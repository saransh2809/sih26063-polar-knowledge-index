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Problem: NCPOR's material is stored in six disconnected systems and nothing turns it into outreach. Solution: harvest what NCPOR already publishes, link every item to its expedition, and generate reviewed, cited content only from linked sources.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One Python backend, one PostgreSQL database, one web app. Records flow down from NCPOR's systems; originals are never copied. The AI only writes from retrieved passages and every sentence is checked.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Feasibility numbers are counts from the running prototype. The main external dependency, NPDC access, is optional: the archive side works on DSpace and the news feed alone.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case study is a real run of the prototype on NCPOR's DSpace archive. The citation-accuracy tile is filled in from the hand-verified evaluation run.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Findings are from the running prototype on 30 Sep 2026. References are linked; the comparison is based on public repositories for this problem statement reviewed before building.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Polar Knowledge Index: NCPOR's existing archive, harvested, linked to expeditions, searchable and cited to the page, with reviewed lessons and announcements in English and Hindi.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10.png"/><Relationship Id="rId18" Type="http://schemas.openxmlformats.org/officeDocument/2006/relationships/image" Target="../media/image31.png"/><Relationship Id="rId19" Type="http://schemas.openxmlformats.org/officeDocument/2006/relationships/image" Target="../media/image14.png"/><Relationship Id="rId20" Type="http://schemas.openxmlformats.org/officeDocument/2006/relationships/image" Target="../media/image32.png"/><Relationship Id="rId21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8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50.png"/><Relationship Id="rId8" Type="http://schemas.openxmlformats.org/officeDocument/2006/relationships/hyperlink" Target="http://14.139.119.23:8080/dspace/" TargetMode="External"/><Relationship Id="rId9" Type="http://schemas.openxmlformats.org/officeDocument/2006/relationships/hyperlink" Target="https://ncpor.res.in/rssfeeds" TargetMode="External"/><Relationship Id="rId10" Type="http://schemas.openxmlformats.org/officeDocument/2006/relationships/hyperlink" Target="https://npdc.ncpor.res.in/" TargetMode="External"/><Relationship Id="rId11" Type="http://schemas.openxmlformats.org/officeDocument/2006/relationships/hyperlink" Target="https://www.openarchives.org/OAI/openarchivesprotocol.html" TargetMode="External"/><Relationship Id="rId12" Type="http://schemas.openxmlformats.org/officeDocument/2006/relationships/hyperlink" Target="https://arxiv.org/abs/2402.05672" TargetMode="External"/><Relationship Id="rId13" Type="http://schemas.openxmlformats.org/officeDocument/2006/relationships/hyperlink" Target="https://doi.org/10.1145/1571941.1572114" TargetMode="External"/><Relationship Id="rId14" Type="http://schemas.openxmlformats.org/officeDocument/2006/relationships/hyperlink" Target="https://arxiv.org/abs/2005.11401" TargetMode="External"/><Relationship Id="rId15" Type="http://schemas.openxmlformats.org/officeDocument/2006/relationships/hyperlink" Target="https://www.w3.org/TR/WCAG21/" TargetMode="External"/><Relationship Id="rId16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F2937"/>
                </a:solidFill>
                <a:latin typeface="Arial"/>
              </a:rPr>
              <a:t>Problem Statement ID : 26063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F2937"/>
                </a:solidFill>
                <a:latin typeface="Arial"/>
              </a:rPr>
              <a:t>Problem Statement Title : Integrated Polar Science Outreach, Knowledge Repository and Media Dissemination Portal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F2937"/>
                </a:solidFill>
                <a:latin typeface="Arial"/>
              </a:rPr>
              <a:t>Theme : Smart Education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F2937"/>
                </a:solidFill>
                <a:latin typeface="Arial"/>
              </a:rPr>
              <a:t>PS Category : Software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F2937"/>
                </a:solidFill>
                <a:latin typeface="Arial"/>
              </a:rPr>
              <a:t>Team ID :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F2937"/>
                </a:solidFill>
                <a:latin typeface="Arial"/>
              </a:rPr>
              <a:t>Team Name : Anarch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93268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Polar Knowledge Index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Team - Anarch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/>
            <a:r>
              <a:rPr sz="1300" b="1" i="0" u="none">
                <a:solidFill>
                  <a:srgbClr val="1E2761"/>
                </a:solidFill>
                <a:latin typeface="Arial"/>
              </a:rPr>
              <a:t>TEAM</a:t>
            </a:r>
            <a:endParaRPr lang="en-IN" dirty="0"/>
          </a:p>
          <a:p>
            <a:pPr algn="ctr"/>
            <a:r>
              <a:rPr sz="1300" b="1" i="0" u="none">
                <a:solidFill>
                  <a:srgbClr val="1E2761"/>
                </a:solidFill>
                <a:latin typeface="Arial"/>
              </a:rPr>
              <a:t>ANARCH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737360" y="969264"/>
            <a:ext cx="8686800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 i="0" u="none">
                <a:solidFill>
                  <a:srgbClr val="1F2937"/>
                </a:solidFill>
                <a:latin typeface="Times New Roman"/>
              </a:rPr>
              <a:t>“Every expedition. Every page. </a:t>
            </a:r>
            <a:r>
              <a:rPr sz="1600" b="1" i="0" u="none">
                <a:solidFill>
                  <a:srgbClr val="1F6FD1"/>
                </a:solidFill>
                <a:latin typeface="Times New Roman"/>
              </a:rPr>
              <a:t>Every claim cited.</a:t>
            </a:r>
            <a:r>
              <a:rPr sz="1600" b="1" i="0" u="none">
                <a:solidFill>
                  <a:srgbClr val="1F2937"/>
                </a:solidFill>
                <a:latin typeface="Times New Roman"/>
              </a:rPr>
              <a:t>”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20040" y="1335024"/>
            <a:ext cx="11521440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200"/>
              </a:spcAft>
              <a:buClr>
                <a:srgbClr val="1F2937"/>
              </a:buClr>
              <a:buFont typeface="Arial"/>
              <a:buChar char="•"/>
            </a:pPr>
            <a:r>
              <a:rPr sz="1300" b="1" i="0" u="none">
                <a:solidFill>
                  <a:srgbClr val="1F2937"/>
                </a:solidFill>
                <a:latin typeface="Calibri"/>
              </a:rPr>
              <a:t>Proposed Solution:  </a:t>
            </a:r>
            <a:r>
              <a:rPr sz="1300" b="0" i="0" u="none">
                <a:solidFill>
                  <a:srgbClr val="1F6FD1"/>
                </a:solidFill>
                <a:latin typeface="Calibri"/>
              </a:rPr>
              <a:t>A knowledge index built on what NCPOR already publishes — harvested, linked to each expedition, and cited to the page.</a:t>
            </a:r>
          </a:p>
        </p:txBody>
      </p:sp>
      <p:sp>
        <p:nvSpPr>
          <p:cNvPr id="15364" name="Oval 15363"/>
          <p:cNvSpPr/>
          <p:nvPr/>
        </p:nvSpPr>
        <p:spPr>
          <a:xfrm>
            <a:off x="411480" y="1719072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5" name="Picture 15364" descr="arch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40" y="1815632"/>
            <a:ext cx="245790" cy="245790"/>
          </a:xfrm>
          <a:prstGeom prst="rect">
            <a:avLst/>
          </a:prstGeom>
        </p:spPr>
      </p:pic>
      <p:cxnSp>
        <p:nvCxnSpPr>
          <p:cNvPr id="15366" name="Connector 15365"/>
          <p:cNvCxnSpPr/>
          <p:nvPr/>
        </p:nvCxnSpPr>
        <p:spPr>
          <a:xfrm>
            <a:off x="886968" y="1938528"/>
            <a:ext cx="347472" cy="0"/>
          </a:xfrm>
          <a:prstGeom prst="line">
            <a:avLst/>
          </a:prstGeom>
          <a:ln w="285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7" name="Oval 15366"/>
          <p:cNvSpPr/>
          <p:nvPr/>
        </p:nvSpPr>
        <p:spPr>
          <a:xfrm>
            <a:off x="1280160" y="1719072"/>
            <a:ext cx="438912" cy="438912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8" name="Picture 15367" descr="s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720" y="1815632"/>
            <a:ext cx="245790" cy="245790"/>
          </a:xfrm>
          <a:prstGeom prst="rect">
            <a:avLst/>
          </a:prstGeom>
        </p:spPr>
      </p:pic>
      <p:cxnSp>
        <p:nvCxnSpPr>
          <p:cNvPr id="15369" name="Connector 15368"/>
          <p:cNvCxnSpPr/>
          <p:nvPr/>
        </p:nvCxnSpPr>
        <p:spPr>
          <a:xfrm>
            <a:off x="1755648" y="1938528"/>
            <a:ext cx="347472" cy="0"/>
          </a:xfrm>
          <a:prstGeom prst="line">
            <a:avLst/>
          </a:prstGeom>
          <a:ln w="285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0" name="Oval 15369"/>
          <p:cNvSpPr/>
          <p:nvPr/>
        </p:nvSpPr>
        <p:spPr>
          <a:xfrm>
            <a:off x="2148840" y="1719072"/>
            <a:ext cx="438912" cy="438912"/>
          </a:xfrm>
          <a:prstGeom prst="ellipse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1" name="Picture 15370" descr="sitema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5400" y="1815632"/>
            <a:ext cx="245790" cy="245790"/>
          </a:xfrm>
          <a:prstGeom prst="rect">
            <a:avLst/>
          </a:prstGeom>
        </p:spPr>
      </p:pic>
      <p:cxnSp>
        <p:nvCxnSpPr>
          <p:cNvPr id="15372" name="Connector 15371"/>
          <p:cNvCxnSpPr/>
          <p:nvPr/>
        </p:nvCxnSpPr>
        <p:spPr>
          <a:xfrm>
            <a:off x="2624328" y="1938528"/>
            <a:ext cx="347472" cy="0"/>
          </a:xfrm>
          <a:prstGeom prst="line">
            <a:avLst/>
          </a:prstGeom>
          <a:ln w="285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3" name="Oval 15372"/>
          <p:cNvSpPr/>
          <p:nvPr/>
        </p:nvSpPr>
        <p:spPr>
          <a:xfrm>
            <a:off x="3017520" y="1719072"/>
            <a:ext cx="438912" cy="438912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4" name="Picture 15373" descr="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4080" y="1815632"/>
            <a:ext cx="245790" cy="245790"/>
          </a:xfrm>
          <a:prstGeom prst="rect">
            <a:avLst/>
          </a:prstGeom>
        </p:spPr>
      </p:pic>
      <p:cxnSp>
        <p:nvCxnSpPr>
          <p:cNvPr id="15375" name="Connector 15374"/>
          <p:cNvCxnSpPr/>
          <p:nvPr/>
        </p:nvCxnSpPr>
        <p:spPr>
          <a:xfrm>
            <a:off x="3493008" y="1938528"/>
            <a:ext cx="347472" cy="0"/>
          </a:xfrm>
          <a:prstGeom prst="line">
            <a:avLst/>
          </a:prstGeom>
          <a:ln w="285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6" name="Oval 15375"/>
          <p:cNvSpPr/>
          <p:nvPr/>
        </p:nvSpPr>
        <p:spPr>
          <a:xfrm>
            <a:off x="3886200" y="1719072"/>
            <a:ext cx="438912" cy="438912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7" name="Picture 15376" descr="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2760" y="1815632"/>
            <a:ext cx="245790" cy="245790"/>
          </a:xfrm>
          <a:prstGeom prst="rect">
            <a:avLst/>
          </a:prstGeom>
        </p:spPr>
      </p:pic>
      <p:cxnSp>
        <p:nvCxnSpPr>
          <p:cNvPr id="15378" name="Connector 15377"/>
          <p:cNvCxnSpPr/>
          <p:nvPr/>
        </p:nvCxnSpPr>
        <p:spPr>
          <a:xfrm>
            <a:off x="4361688" y="1938528"/>
            <a:ext cx="347472" cy="0"/>
          </a:xfrm>
          <a:prstGeom prst="line">
            <a:avLst/>
          </a:prstGeom>
          <a:ln w="285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9" name="Oval 15378"/>
          <p:cNvSpPr/>
          <p:nvPr/>
        </p:nvSpPr>
        <p:spPr>
          <a:xfrm>
            <a:off x="4754880" y="1719072"/>
            <a:ext cx="438912" cy="438912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0" name="Picture 15379" descr="schoo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1440" y="1815632"/>
            <a:ext cx="245790" cy="245790"/>
          </a:xfrm>
          <a:prstGeom prst="rect">
            <a:avLst/>
          </a:prstGeom>
        </p:spPr>
      </p:pic>
      <p:sp>
        <p:nvSpPr>
          <p:cNvPr id="15381" name="TextBox 15380"/>
          <p:cNvSpPr txBox="1"/>
          <p:nvPr/>
        </p:nvSpPr>
        <p:spPr>
          <a:xfrm>
            <a:off x="320040" y="2194560"/>
            <a:ext cx="530352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900" b="0" i="1" u="none">
                <a:solidFill>
                  <a:srgbClr val="5B6475"/>
                </a:solidFill>
                <a:latin typeface="Calibri"/>
              </a:rPr>
              <a:t>Harvest  →  Read  →  Link  →  Search  →  Review  →  Teach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320040" y="2487168"/>
            <a:ext cx="5120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 u="none">
                <a:solidFill>
                  <a:srgbClr val="D95926"/>
                </a:solidFill>
                <a:latin typeface="Segoe UI Symbol"/>
              </a:rPr>
              <a:t>➤ </a:t>
            </a:r>
            <a:r>
              <a:rPr sz="1250" b="1" i="0" u="none">
                <a:solidFill>
                  <a:srgbClr val="1F2937"/>
                </a:solidFill>
                <a:latin typeface="Calibri"/>
              </a:rPr>
              <a:t>What it does?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457200" y="2761488"/>
            <a:ext cx="4983480" cy="109728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250"/>
              </a:spcAft>
              <a:buClr>
                <a:srgbClr val="1F6FD1"/>
              </a:buClr>
              <a:buFont typeface="Arial"/>
              <a:buChar char="•"/>
            </a:pPr>
            <a:r>
              <a:rPr sz="950" b="1" i="0" u="sng">
                <a:solidFill>
                  <a:srgbClr val="1F6FD1"/>
                </a:solidFill>
                <a:latin typeface="Calibri"/>
              </a:rPr>
              <a:t>Harvests, never re-enters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: DSpace expedition reports (OAI-PMH) + NCPOR news feed, polite &amp; cached — originals stay where they are</a:t>
            </a:r>
          </a:p>
          <a:p>
            <a:pPr algn="l" marL="155448" indent="-155448">
              <a:spcAft>
                <a:spcPts val="250"/>
              </a:spcAft>
              <a:buClr>
                <a:srgbClr val="1F6FD1"/>
              </a:buClr>
              <a:buFont typeface="Arial"/>
              <a:buChar char="•"/>
            </a:pPr>
            <a:r>
              <a:rPr sz="950" b="1" i="0" u="sng">
                <a:solidFill>
                  <a:srgbClr val="1F6FD1"/>
                </a:solidFill>
                <a:latin typeface="Calibri"/>
              </a:rPr>
              <a:t>Reads the scans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: PDF text layer or Tesseract OCR, page image kept for “view original page”</a:t>
            </a:r>
          </a:p>
          <a:p>
            <a:pPr algn="l" marL="155448" indent="-155448">
              <a:spcAft>
                <a:spcPts val="250"/>
              </a:spcAft>
              <a:buClr>
                <a:srgbClr val="1F6FD1"/>
              </a:buClr>
              <a:buFont typeface="Arial"/>
              <a:buChar char="•"/>
            </a:pPr>
            <a:r>
              <a:rPr sz="950" b="1" i="0" u="sng">
                <a:solidFill>
                  <a:srgbClr val="1F6FD1"/>
                </a:solidFill>
                <a:latin typeface="Calibri"/>
              </a:rPr>
              <a:t>Links everything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: item → expedition · station · topic · year; machine links stay unconfirmed until a curator confirms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320040" y="3895344"/>
            <a:ext cx="5120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 u="none">
                <a:solidFill>
                  <a:srgbClr val="D95926"/>
                </a:solidFill>
                <a:latin typeface="Segoe UI Symbol"/>
              </a:rPr>
              <a:t>➤ </a:t>
            </a:r>
            <a:r>
              <a:rPr sz="1250" b="1" i="0" u="none">
                <a:solidFill>
                  <a:srgbClr val="1F2937"/>
                </a:solidFill>
                <a:latin typeface="Calibri"/>
              </a:rPr>
              <a:t>How it answers the PS?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57200" y="4169664"/>
            <a:ext cx="4983480" cy="768096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250"/>
              </a:spcAft>
              <a:buClr>
                <a:srgbClr val="1F6FD1"/>
              </a:buClr>
              <a:buFont typeface="Arial"/>
              <a:buChar char="•"/>
            </a:pPr>
            <a:r>
              <a:rPr sz="950" b="1" i="0" u="sng">
                <a:solidFill>
                  <a:srgbClr val="1F6FD1"/>
                </a:solidFill>
                <a:latin typeface="Calibri"/>
              </a:rPr>
              <a:t>Repository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: 32 expedition reports, 765 papers and 837 news posts in one index, one page per expedition</a:t>
            </a:r>
          </a:p>
          <a:p>
            <a:pPr algn="l" marL="155448" indent="-155448">
              <a:spcAft>
                <a:spcPts val="250"/>
              </a:spcAft>
              <a:buClr>
                <a:srgbClr val="1F6FD1"/>
              </a:buClr>
              <a:buFont typeface="Arial"/>
              <a:buChar char="•"/>
            </a:pPr>
            <a:r>
              <a:rPr sz="950" b="1" i="0" u="sng">
                <a:solidFill>
                  <a:srgbClr val="1F6FD1"/>
                </a:solidFill>
                <a:latin typeface="Calibri"/>
              </a:rPr>
              <a:t>Dissemination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: cited answers, lesson units and web + social posts, in English and Hindi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320040" y="4974336"/>
            <a:ext cx="5120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 u="none">
                <a:solidFill>
                  <a:srgbClr val="D95926"/>
                </a:solidFill>
                <a:latin typeface="Segoe UI Symbol"/>
              </a:rPr>
              <a:t>➤ </a:t>
            </a:r>
            <a:r>
              <a:rPr sz="1250" b="1" i="0" u="none">
                <a:solidFill>
                  <a:srgbClr val="1F2937"/>
                </a:solidFill>
                <a:latin typeface="Calibri"/>
              </a:rPr>
              <a:t>What is different about it?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457200" y="5248656"/>
            <a:ext cx="4983480" cy="142646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250"/>
              </a:spcAft>
              <a:buClr>
                <a:srgbClr val="1F6FD1"/>
              </a:buClr>
              <a:buFont typeface="Arial"/>
              <a:buChar char="•"/>
            </a:pPr>
            <a:r>
              <a:rPr sz="950" b="1" i="0" u="sng">
                <a:solidFill>
                  <a:srgbClr val="1F6FD1"/>
                </a:solidFill>
                <a:latin typeface="Calibri"/>
              </a:rPr>
              <a:t>Real NCPOR archive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, zero new data entry for staff</a:t>
            </a:r>
          </a:p>
          <a:p>
            <a:pPr algn="l" marL="155448" indent="-155448">
              <a:spcAft>
                <a:spcPts val="250"/>
              </a:spcAft>
              <a:buClr>
                <a:srgbClr val="1F6FD1"/>
              </a:buClr>
              <a:buFont typeface="Arial"/>
              <a:buChar char="•"/>
            </a:pPr>
            <a:r>
              <a:rPr sz="950" b="1" i="0" u="sng">
                <a:solidFill>
                  <a:srgbClr val="1F6FD1"/>
                </a:solidFill>
                <a:latin typeface="Calibri"/>
              </a:rPr>
              <a:t>Checked, not claimed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: every sentence fact-checked against its page; unsupported ones block approval</a:t>
            </a:r>
          </a:p>
          <a:p>
            <a:pPr algn="l" marL="155448" indent="-155448">
              <a:spcAft>
                <a:spcPts val="250"/>
              </a:spcAft>
              <a:buClr>
                <a:srgbClr val="1F6FD1"/>
              </a:buClr>
              <a:buFont typeface="Arial"/>
              <a:buChar char="•"/>
            </a:pPr>
            <a:r>
              <a:rPr sz="950" b="1" i="0" u="sng">
                <a:solidFill>
                  <a:srgbClr val="1F6FD1"/>
                </a:solidFill>
                <a:latin typeface="Calibri"/>
              </a:rPr>
              <a:t>Named reviewer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+ append-only audit log; refuses when the archive has no source</a:t>
            </a:r>
          </a:p>
          <a:p>
            <a:pPr algn="l" marL="155448" indent="-155448">
              <a:spcAft>
                <a:spcPts val="250"/>
              </a:spcAft>
              <a:buClr>
                <a:srgbClr val="1F6FD1"/>
              </a:buClr>
              <a:buFont typeface="Arial"/>
              <a:buChar char="•"/>
            </a:pPr>
            <a:r>
              <a:rPr sz="950" b="1" i="0" u="sng">
                <a:solidFill>
                  <a:srgbClr val="1F6FD1"/>
                </a:solidFill>
                <a:latin typeface="Calibri"/>
              </a:rPr>
              <a:t>Coverage view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: shows which expeditions have no public report or story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5715000" y="1673352"/>
            <a:ext cx="20116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1" i="0" u="none">
                <a:solidFill>
                  <a:srgbClr val="1E2761"/>
                </a:solidFill>
                <a:latin typeface="Calibri"/>
              </a:rPr>
              <a:t>WORKFLOW</a:t>
            </a:r>
          </a:p>
        </p:txBody>
      </p:sp>
      <p:cxnSp>
        <p:nvCxnSpPr>
          <p:cNvPr id="15389" name="Connector 15388"/>
          <p:cNvCxnSpPr/>
          <p:nvPr/>
        </p:nvCxnSpPr>
        <p:spPr>
          <a:xfrm>
            <a:off x="6720840" y="2212848"/>
            <a:ext cx="0" cy="3680459"/>
          </a:xfrm>
          <a:prstGeom prst="line">
            <a:avLst/>
          </a:prstGeom>
          <a:ln w="31750">
            <a:solidFill>
              <a:srgbClr val="9DB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0" name="Oval 15389"/>
          <p:cNvSpPr/>
          <p:nvPr/>
        </p:nvSpPr>
        <p:spPr>
          <a:xfrm>
            <a:off x="6519672" y="2011680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TextBox 15390"/>
          <p:cNvSpPr txBox="1"/>
          <p:nvPr/>
        </p:nvSpPr>
        <p:spPr>
          <a:xfrm>
            <a:off x="6519672" y="2011680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5486400" y="2002536"/>
            <a:ext cx="987552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DSPACE + RSS</a:t>
            </a:r>
          </a:p>
          <a:p>
            <a:pPr algn="r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HARVEST</a:t>
            </a:r>
          </a:p>
        </p:txBody>
      </p:sp>
      <p:pic>
        <p:nvPicPr>
          <p:cNvPr id="15393" name="Picture 15392" descr="archive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2592" y="2075688"/>
            <a:ext cx="274320" cy="274320"/>
          </a:xfrm>
          <a:prstGeom prst="rect">
            <a:avLst/>
          </a:prstGeom>
        </p:spPr>
      </p:pic>
      <p:sp>
        <p:nvSpPr>
          <p:cNvPr id="15394" name="Oval 15393"/>
          <p:cNvSpPr/>
          <p:nvPr/>
        </p:nvSpPr>
        <p:spPr>
          <a:xfrm>
            <a:off x="6519672" y="2537460"/>
            <a:ext cx="402336" cy="402336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TextBox 15394"/>
          <p:cNvSpPr txBox="1"/>
          <p:nvPr/>
        </p:nvSpPr>
        <p:spPr>
          <a:xfrm>
            <a:off x="6519672" y="2537460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7004304" y="2528316"/>
            <a:ext cx="987552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TEXT LAYER</a:t>
            </a:r>
          </a:p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/ OCR</a:t>
            </a:r>
          </a:p>
        </p:txBody>
      </p:sp>
      <p:pic>
        <p:nvPicPr>
          <p:cNvPr id="15397" name="Picture 15396" descr="scan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1344" y="2601468"/>
            <a:ext cx="274320" cy="274320"/>
          </a:xfrm>
          <a:prstGeom prst="rect">
            <a:avLst/>
          </a:prstGeom>
        </p:spPr>
      </p:pic>
      <p:sp>
        <p:nvSpPr>
          <p:cNvPr id="15398" name="Oval 15397"/>
          <p:cNvSpPr/>
          <p:nvPr/>
        </p:nvSpPr>
        <p:spPr>
          <a:xfrm>
            <a:off x="6519672" y="3063240"/>
            <a:ext cx="402336" cy="402336"/>
          </a:xfrm>
          <a:prstGeom prst="ellipse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9" name="TextBox 15398"/>
          <p:cNvSpPr txBox="1"/>
          <p:nvPr/>
        </p:nvSpPr>
        <p:spPr>
          <a:xfrm>
            <a:off x="6519672" y="3063240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5486400" y="3054096"/>
            <a:ext cx="987552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LINK TO</a:t>
            </a:r>
          </a:p>
          <a:p>
            <a:pPr algn="r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EXPEDITION</a:t>
            </a:r>
          </a:p>
        </p:txBody>
      </p:sp>
      <p:pic>
        <p:nvPicPr>
          <p:cNvPr id="15401" name="Picture 15400" descr="sitemap2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2592" y="3127248"/>
            <a:ext cx="274320" cy="274320"/>
          </a:xfrm>
          <a:prstGeom prst="rect">
            <a:avLst/>
          </a:prstGeom>
        </p:spPr>
      </p:pic>
      <p:sp>
        <p:nvSpPr>
          <p:cNvPr id="15402" name="Oval 15401"/>
          <p:cNvSpPr/>
          <p:nvPr/>
        </p:nvSpPr>
        <p:spPr>
          <a:xfrm>
            <a:off x="6519672" y="3589020"/>
            <a:ext cx="402336" cy="402336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TextBox 15402"/>
          <p:cNvSpPr txBox="1"/>
          <p:nvPr/>
        </p:nvSpPr>
        <p:spPr>
          <a:xfrm>
            <a:off x="6519672" y="3589020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7004304" y="3579876"/>
            <a:ext cx="987552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HYBRID</a:t>
            </a:r>
          </a:p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SEARCH</a:t>
            </a:r>
          </a:p>
        </p:txBody>
      </p:sp>
      <p:pic>
        <p:nvPicPr>
          <p:cNvPr id="15405" name="Picture 15404" descr="search_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1344" y="3653027"/>
            <a:ext cx="274320" cy="274320"/>
          </a:xfrm>
          <a:prstGeom prst="rect">
            <a:avLst/>
          </a:prstGeom>
        </p:spPr>
      </p:pic>
      <p:sp>
        <p:nvSpPr>
          <p:cNvPr id="15406" name="Oval 15405"/>
          <p:cNvSpPr/>
          <p:nvPr/>
        </p:nvSpPr>
        <p:spPr>
          <a:xfrm>
            <a:off x="6519672" y="4114800"/>
            <a:ext cx="402336" cy="402336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7" name="TextBox 15406"/>
          <p:cNvSpPr txBox="1"/>
          <p:nvPr/>
        </p:nvSpPr>
        <p:spPr>
          <a:xfrm>
            <a:off x="6519672" y="4114800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5408" name="TextBox 15407"/>
          <p:cNvSpPr txBox="1"/>
          <p:nvPr/>
        </p:nvSpPr>
        <p:spPr>
          <a:xfrm>
            <a:off x="5486400" y="4105656"/>
            <a:ext cx="987552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CITED AI</a:t>
            </a:r>
          </a:p>
          <a:p>
            <a:pPr algn="r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DRAFT</a:t>
            </a:r>
          </a:p>
        </p:txBody>
      </p:sp>
      <p:pic>
        <p:nvPicPr>
          <p:cNvPr id="15409" name="Picture 15408" descr="robot_nav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22592" y="4178808"/>
            <a:ext cx="274320" cy="274320"/>
          </a:xfrm>
          <a:prstGeom prst="rect">
            <a:avLst/>
          </a:prstGeom>
        </p:spPr>
      </p:pic>
      <p:sp>
        <p:nvSpPr>
          <p:cNvPr id="15410" name="Oval 15409"/>
          <p:cNvSpPr/>
          <p:nvPr/>
        </p:nvSpPr>
        <p:spPr>
          <a:xfrm>
            <a:off x="6519672" y="4640580"/>
            <a:ext cx="402336" cy="402336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1" name="TextBox 15410"/>
          <p:cNvSpPr txBox="1"/>
          <p:nvPr/>
        </p:nvSpPr>
        <p:spPr>
          <a:xfrm>
            <a:off x="6519672" y="4640580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5412" name="TextBox 15411"/>
          <p:cNvSpPr txBox="1"/>
          <p:nvPr/>
        </p:nvSpPr>
        <p:spPr>
          <a:xfrm>
            <a:off x="7004304" y="4631436"/>
            <a:ext cx="987552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FAITHFULNESS</a:t>
            </a:r>
          </a:p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CHECK</a:t>
            </a:r>
          </a:p>
        </p:txBody>
      </p:sp>
      <p:pic>
        <p:nvPicPr>
          <p:cNvPr id="15413" name="Picture 15412" descr="listcheck_nav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81344" y="4704588"/>
            <a:ext cx="274320" cy="274320"/>
          </a:xfrm>
          <a:prstGeom prst="rect">
            <a:avLst/>
          </a:prstGeom>
        </p:spPr>
      </p:pic>
      <p:sp>
        <p:nvSpPr>
          <p:cNvPr id="15414" name="Oval 15413"/>
          <p:cNvSpPr/>
          <p:nvPr/>
        </p:nvSpPr>
        <p:spPr>
          <a:xfrm>
            <a:off x="6519672" y="5166360"/>
            <a:ext cx="402336" cy="402336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5" name="TextBox 15414"/>
          <p:cNvSpPr txBox="1"/>
          <p:nvPr/>
        </p:nvSpPr>
        <p:spPr>
          <a:xfrm>
            <a:off x="6519672" y="5166360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5416" name="TextBox 15415"/>
          <p:cNvSpPr txBox="1"/>
          <p:nvPr/>
        </p:nvSpPr>
        <p:spPr>
          <a:xfrm>
            <a:off x="5486400" y="5157216"/>
            <a:ext cx="987552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NAMED</a:t>
            </a:r>
          </a:p>
          <a:p>
            <a:pPr algn="r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REVIEWER</a:t>
            </a:r>
          </a:p>
        </p:txBody>
      </p:sp>
      <p:pic>
        <p:nvPicPr>
          <p:cNvPr id="15417" name="Picture 15416" descr="usercheck_nav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22592" y="5230368"/>
            <a:ext cx="274320" cy="274320"/>
          </a:xfrm>
          <a:prstGeom prst="rect">
            <a:avLst/>
          </a:prstGeom>
        </p:spPr>
      </p:pic>
      <p:sp>
        <p:nvSpPr>
          <p:cNvPr id="15418" name="Oval 15417"/>
          <p:cNvSpPr/>
          <p:nvPr/>
        </p:nvSpPr>
        <p:spPr>
          <a:xfrm>
            <a:off x="6519672" y="5692140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9" name="TextBox 15418"/>
          <p:cNvSpPr txBox="1"/>
          <p:nvPr/>
        </p:nvSpPr>
        <p:spPr>
          <a:xfrm>
            <a:off x="6519672" y="5692140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15420" name="TextBox 15419"/>
          <p:cNvSpPr txBox="1"/>
          <p:nvPr/>
        </p:nvSpPr>
        <p:spPr>
          <a:xfrm>
            <a:off x="7004304" y="5682996"/>
            <a:ext cx="987552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PUBLISH</a:t>
            </a:r>
          </a:p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1F2937"/>
                </a:solidFill>
                <a:latin typeface="Calibri"/>
              </a:rPr>
              <a:t>EN / HI</a:t>
            </a:r>
          </a:p>
        </p:txBody>
      </p:sp>
      <p:pic>
        <p:nvPicPr>
          <p:cNvPr id="15421" name="Picture 15420" descr="language_nav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81344" y="5756148"/>
            <a:ext cx="274320" cy="274320"/>
          </a:xfrm>
          <a:prstGeom prst="rect">
            <a:avLst/>
          </a:prstGeom>
        </p:spPr>
      </p:pic>
      <p:sp>
        <p:nvSpPr>
          <p:cNvPr id="15422" name="TextBox 15421"/>
          <p:cNvSpPr txBox="1"/>
          <p:nvPr/>
        </p:nvSpPr>
        <p:spPr>
          <a:xfrm>
            <a:off x="8001000" y="1673352"/>
            <a:ext cx="38404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1" i="0" u="none">
                <a:solidFill>
                  <a:srgbClr val="1E2761"/>
                </a:solidFill>
                <a:latin typeface="Calibri"/>
              </a:rPr>
              <a:t>PROTOTYPE IMAGE</a:t>
            </a:r>
          </a:p>
        </p:txBody>
      </p:sp>
      <p:pic>
        <p:nvPicPr>
          <p:cNvPr id="15423" name="Picture 15422" descr="s2_page_viewe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0" y="1993392"/>
            <a:ext cx="3840480" cy="2459255"/>
          </a:xfrm>
          <a:prstGeom prst="rect">
            <a:avLst/>
          </a:prstGeom>
          <a:ln w="12700">
            <a:solidFill>
              <a:srgbClr val="5B6475"/>
            </a:solidFill>
          </a:ln>
        </p:spPr>
      </p:pic>
      <p:sp>
        <p:nvSpPr>
          <p:cNvPr id="15424" name="TextBox 15423"/>
          <p:cNvSpPr txBox="1"/>
          <p:nvPr/>
        </p:nvSpPr>
        <p:spPr>
          <a:xfrm>
            <a:off x="8001000" y="4498848"/>
            <a:ext cx="384048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1" u="none">
                <a:solidFill>
                  <a:srgbClr val="5B6475"/>
                </a:solidFill>
                <a:latin typeface="Calibri"/>
              </a:rPr>
              <a:t>Working prototype · real DSpace scan · 9th Expedition glacier paper,</a:t>
            </a:r>
          </a:p>
          <a:p>
            <a:pPr algn="ctr">
              <a:spcAft>
                <a:spcPts val="0"/>
              </a:spcAft>
            </a:pPr>
            <a:r>
              <a:rPr sz="850" b="0" i="1" u="none">
                <a:solidFill>
                  <a:srgbClr val="5B6475"/>
                </a:solidFill>
                <a:latin typeface="Calibri"/>
              </a:rPr>
              <a:t>printed p. 248 — scan beside its searchable text</a:t>
            </a:r>
          </a:p>
        </p:txBody>
      </p:sp>
      <p:sp>
        <p:nvSpPr>
          <p:cNvPr id="15425" name="Pentagon 15424"/>
          <p:cNvSpPr/>
          <p:nvPr/>
        </p:nvSpPr>
        <p:spPr>
          <a:xfrm>
            <a:off x="8549640" y="4846320"/>
            <a:ext cx="2926080" cy="347472"/>
          </a:xfrm>
          <a:prstGeom prst="homePlat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6" name="TextBox 15425"/>
          <p:cNvSpPr txBox="1"/>
          <p:nvPr/>
        </p:nvSpPr>
        <p:spPr>
          <a:xfrm>
            <a:off x="8641080" y="4846320"/>
            <a:ext cx="269748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 u="none">
                <a:solidFill>
                  <a:srgbClr val="FFFFFF"/>
                </a:solidFill>
                <a:latin typeface="Calibri"/>
              </a:rPr>
              <a:t>Scan :</a:t>
            </a:r>
            <a:r>
              <a:rPr sz="950" b="0" i="0" u="none">
                <a:solidFill>
                  <a:srgbClr val="FFFFFF"/>
                </a:solidFill>
                <a:latin typeface="Calibri"/>
              </a:rPr>
              <a:t> the page exactly as NCPOR published it</a:t>
            </a:r>
          </a:p>
        </p:txBody>
      </p:sp>
      <p:sp>
        <p:nvSpPr>
          <p:cNvPr id="15427" name="Pentagon 15426"/>
          <p:cNvSpPr/>
          <p:nvPr/>
        </p:nvSpPr>
        <p:spPr>
          <a:xfrm>
            <a:off x="8549640" y="5248656"/>
            <a:ext cx="2926080" cy="347472"/>
          </a:xfrm>
          <a:prstGeom prst="homePlat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8" name="TextBox 15427"/>
          <p:cNvSpPr txBox="1"/>
          <p:nvPr/>
        </p:nvSpPr>
        <p:spPr>
          <a:xfrm>
            <a:off x="8641080" y="5248656"/>
            <a:ext cx="269748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 u="none">
                <a:solidFill>
                  <a:srgbClr val="FFFFFF"/>
                </a:solidFill>
                <a:latin typeface="Calibri"/>
              </a:rPr>
              <a:t>Citation :</a:t>
            </a:r>
            <a:r>
              <a:rPr sz="950" b="0" i="0" u="none">
                <a:solidFill>
                  <a:srgbClr val="FFFFFF"/>
                </a:solidFill>
                <a:latin typeface="Calibri"/>
              </a:rPr>
              <a:t> every answer links back to this page</a:t>
            </a:r>
          </a:p>
        </p:txBody>
      </p:sp>
      <p:sp>
        <p:nvSpPr>
          <p:cNvPr id="15429" name="Pentagon 15428"/>
          <p:cNvSpPr/>
          <p:nvPr/>
        </p:nvSpPr>
        <p:spPr>
          <a:xfrm>
            <a:off x="8549640" y="5650992"/>
            <a:ext cx="2926080" cy="347472"/>
          </a:xfrm>
          <a:prstGeom prst="homePlat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0" name="TextBox 15429"/>
          <p:cNvSpPr txBox="1"/>
          <p:nvPr/>
        </p:nvSpPr>
        <p:spPr>
          <a:xfrm>
            <a:off x="8641080" y="5650992"/>
            <a:ext cx="269748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 u="none">
                <a:solidFill>
                  <a:srgbClr val="FFFFFF"/>
                </a:solidFill>
                <a:latin typeface="Calibri"/>
              </a:rPr>
              <a:t>Coverage :</a:t>
            </a:r>
            <a:r>
              <a:rPr sz="950" b="0" i="0" u="none">
                <a:solidFill>
                  <a:srgbClr val="FFFFFF"/>
                </a:solidFill>
                <a:latin typeface="Calibri"/>
              </a:rPr>
              <a:t> expeditions with no public report</a:t>
            </a:r>
          </a:p>
        </p:txBody>
      </p:sp>
      <p:sp>
        <p:nvSpPr>
          <p:cNvPr id="15431" name="TextBox 15430"/>
          <p:cNvSpPr txBox="1"/>
          <p:nvPr/>
        </p:nvSpPr>
        <p:spPr>
          <a:xfrm>
            <a:off x="8001000" y="6053328"/>
            <a:ext cx="38404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2937"/>
                </a:solidFill>
                <a:latin typeface="Calibri"/>
              </a:rPr>
              <a:t>github repo link :</a:t>
            </a:r>
          </a:p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2937"/>
                </a:solidFill>
                <a:latin typeface="Calibri"/>
              </a:rPr>
              <a:t>demo youtube video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Team - Anarch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/>
            <a:r>
              <a:rPr sz="1300" b="1" i="0" u="none">
                <a:solidFill>
                  <a:srgbClr val="1E2761"/>
                </a:solidFill>
                <a:latin typeface="Arial"/>
              </a:rPr>
              <a:t>TEAM</a:t>
            </a:r>
            <a:endParaRPr lang="en-IN" dirty="0"/>
          </a:p>
          <a:p>
            <a:pPr algn="ctr"/>
            <a:r>
              <a:rPr sz="1300" b="1" i="0" u="none">
                <a:solidFill>
                  <a:srgbClr val="1E2761"/>
                </a:solidFill>
                <a:latin typeface="Arial"/>
              </a:rPr>
              <a:t>ANARCH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828800" y="932688"/>
            <a:ext cx="85039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200" b="0" i="1" u="none">
                <a:solidFill>
                  <a:srgbClr val="1E2761"/>
                </a:solidFill>
                <a:latin typeface="Calibri"/>
              </a:rPr>
              <a:t>Technology stack &amp; system architecture — built and running end-to-end on NCPOR’s real archive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298448"/>
            <a:ext cx="3931920" cy="384048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20040" y="1298448"/>
            <a:ext cx="393192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320040" y="1755648"/>
          <a:ext cx="393192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29718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45720" marR="45720" marT="18288" marB="18288" anchor="ctr">
                    <a:solidFill>
                      <a:srgbClr val="1F6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45720" marR="45720" marT="18288" marB="18288" anchor="ctr">
                    <a:solidFill>
                      <a:srgbClr val="1F6FD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Harvest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1F2937"/>
                          </a:solidFill>
                          <a:latin typeface="Calibri"/>
                        </a:rPr>
                        <a:t>httpx · OAI-PMH · lxml · robots.txt-aware, 1 req/s, cached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Documents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1F2937"/>
                          </a:solidFill>
                          <a:latin typeface="Calibri"/>
                        </a:rPr>
                        <a:t>PyMuPDF · Tesseract OCR 5.4 · page images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1F2937"/>
                          </a:solidFill>
                          <a:latin typeface="Calibri"/>
                        </a:rPr>
                        <a:t>PostgreSQL 16 full-text + pgvector · multilingual-e5-base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AI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1F2937"/>
                          </a:solidFill>
                          <a:latin typeface="Calibri"/>
                        </a:rPr>
                        <a:t>Google Gemini — grounded drafting, checker, Hindi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1F2937"/>
                          </a:solidFill>
                          <a:latin typeface="Calibri"/>
                        </a:rPr>
                        <a:t>Python 3.12 · FastAPI · SQLAlchemy 2 · Alembic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1F2937"/>
                          </a:solidFill>
                          <a:latin typeface="Calibri"/>
                        </a:rPr>
                        <a:t>Next.js · TypeScript · Tailwind · WCAG 2.1 AA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1F2937"/>
                          </a:solidFill>
                          <a:latin typeface="Calibri"/>
                        </a:rPr>
                        <a:t>Staff roles · JWT · bcrypt · append-only audit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1F2937"/>
                          </a:solidFill>
                          <a:latin typeface="Calibri"/>
                        </a:rPr>
                        <a:t>25 automated tests (pytest) · Docker Compose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pic>
        <p:nvPicPr>
          <p:cNvPr id="17414" name="Picture 17413" descr="logo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63440"/>
            <a:ext cx="402336" cy="402336"/>
          </a:xfrm>
          <a:prstGeom prst="rect">
            <a:avLst/>
          </a:prstGeom>
        </p:spPr>
      </p:pic>
      <p:pic>
        <p:nvPicPr>
          <p:cNvPr id="17415" name="Picture 17414" descr="logo_fast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663440"/>
            <a:ext cx="402336" cy="402336"/>
          </a:xfrm>
          <a:prstGeom prst="rect">
            <a:avLst/>
          </a:prstGeom>
        </p:spPr>
      </p:pic>
      <p:pic>
        <p:nvPicPr>
          <p:cNvPr id="17416" name="Picture 17415" descr="logo_postgresq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4663440"/>
            <a:ext cx="402336" cy="402336"/>
          </a:xfrm>
          <a:prstGeom prst="rect">
            <a:avLst/>
          </a:prstGeom>
        </p:spPr>
      </p:pic>
      <p:pic>
        <p:nvPicPr>
          <p:cNvPr id="17417" name="Picture 17416" descr="logo_sqlalchem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39" y="4663440"/>
            <a:ext cx="402336" cy="402336"/>
          </a:xfrm>
          <a:prstGeom prst="rect">
            <a:avLst/>
          </a:prstGeom>
        </p:spPr>
      </p:pic>
      <p:pic>
        <p:nvPicPr>
          <p:cNvPr id="17418" name="Picture 17417" descr="logo_pyt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520" y="4663440"/>
            <a:ext cx="402336" cy="402336"/>
          </a:xfrm>
          <a:prstGeom prst="rect">
            <a:avLst/>
          </a:prstGeom>
        </p:spPr>
      </p:pic>
      <p:pic>
        <p:nvPicPr>
          <p:cNvPr id="17419" name="Picture 17418" descr="logo_dock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4663440"/>
            <a:ext cx="402336" cy="402336"/>
          </a:xfrm>
          <a:prstGeom prst="rect">
            <a:avLst/>
          </a:prstGeom>
        </p:spPr>
      </p:pic>
      <p:pic>
        <p:nvPicPr>
          <p:cNvPr id="17420" name="Picture 17419" descr="logo_nextdotj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230368"/>
            <a:ext cx="402336" cy="402336"/>
          </a:xfrm>
          <a:prstGeom prst="rect">
            <a:avLst/>
          </a:prstGeom>
        </p:spPr>
      </p:pic>
      <p:pic>
        <p:nvPicPr>
          <p:cNvPr id="17421" name="Picture 17420" descr="logo_typescrip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80" y="5230368"/>
            <a:ext cx="402336" cy="402336"/>
          </a:xfrm>
          <a:prstGeom prst="rect">
            <a:avLst/>
          </a:prstGeom>
        </p:spPr>
      </p:pic>
      <p:pic>
        <p:nvPicPr>
          <p:cNvPr id="17422" name="Picture 17421" descr="logo_reac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7360" y="5230368"/>
            <a:ext cx="402336" cy="402336"/>
          </a:xfrm>
          <a:prstGeom prst="rect">
            <a:avLst/>
          </a:prstGeom>
        </p:spPr>
      </p:pic>
      <p:pic>
        <p:nvPicPr>
          <p:cNvPr id="17423" name="Picture 17422" descr="logo_tailwin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77439" y="5230368"/>
            <a:ext cx="402336" cy="402336"/>
          </a:xfrm>
          <a:prstGeom prst="rect">
            <a:avLst/>
          </a:prstGeom>
        </p:spPr>
      </p:pic>
      <p:pic>
        <p:nvPicPr>
          <p:cNvPr id="17424" name="Picture 17423" descr="logo_gemini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17520" y="5230368"/>
            <a:ext cx="402336" cy="402336"/>
          </a:xfrm>
          <a:prstGeom prst="rect">
            <a:avLst/>
          </a:prstGeom>
        </p:spPr>
      </p:pic>
      <p:pic>
        <p:nvPicPr>
          <p:cNvPr id="17425" name="Picture 17424" descr="logo_huggingfac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7600" y="5230368"/>
            <a:ext cx="402336" cy="402336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320040" y="5806440"/>
            <a:ext cx="393192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1" i="0" u="none">
                <a:solidFill>
                  <a:srgbClr val="148A5B"/>
                </a:solidFill>
                <a:latin typeface="Calibri"/>
              </a:rPr>
              <a:t>✓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Originals never re-hosted: links + OCR text + page images only</a:t>
            </a:r>
          </a:p>
          <a:p>
            <a:pPr algn="l">
              <a:spcAft>
                <a:spcPts val="100"/>
              </a:spcAft>
            </a:pPr>
            <a:r>
              <a:rPr sz="950" b="1" i="0" u="none">
                <a:solidFill>
                  <a:srgbClr val="148A5B"/>
                </a:solidFill>
                <a:latin typeface="Calibri"/>
              </a:rPr>
              <a:t>✓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Public is read-only; every staff action is audited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526280" y="1298448"/>
            <a:ext cx="7315200" cy="384048"/>
          </a:xfrm>
          <a:prstGeom prst="roundRect">
            <a:avLst>
              <a:gd name="adj" fmla="val 28571"/>
            </a:avLst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4526280" y="1298448"/>
            <a:ext cx="73152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4526280" y="1828800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4526280" y="1828800"/>
            <a:ext cx="47548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 i="0" u="none">
                <a:solidFill>
                  <a:srgbClr val="1F6FD1"/>
                </a:solidFill>
                <a:latin typeface="Calibri"/>
              </a:rPr>
              <a:t>1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056632" y="1901952"/>
            <a:ext cx="182880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 u="none">
                <a:solidFill>
                  <a:srgbClr val="1F6FD1"/>
                </a:solidFill>
                <a:latin typeface="Calibri"/>
              </a:rPr>
              <a:t>DATA SOURCES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526280" y="2395728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3" name="Picture 17432" descr="database_nav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3952" y="2450592"/>
            <a:ext cx="274320" cy="274320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4599432" y="2468880"/>
            <a:ext cx="1874519" cy="123444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300"/>
              </a:spcAft>
              <a:buClr>
                <a:srgbClr val="1F6FD1"/>
              </a:buClr>
              <a:buFont typeface="Arial"/>
              <a:buChar char="•"/>
            </a:pPr>
            <a:r>
              <a:rPr sz="900" b="1" i="0" u="none">
                <a:solidFill>
                  <a:srgbClr val="1F2937"/>
                </a:solidFill>
                <a:latin typeface="Calibri"/>
              </a:rPr>
              <a:t>DSpace at NCAOR</a:t>
            </a:r>
            <a:r>
              <a:rPr sz="900" b="0" i="0" u="none">
                <a:solidFill>
                  <a:srgbClr val="1F2937"/>
                </a:solidFill>
                <a:latin typeface="Calibri"/>
              </a:rPr>
              <a:t> · OAI-PMH · 32 report communities</a:t>
            </a:r>
          </a:p>
          <a:p>
            <a:pPr algn="l" marL="155448" indent="-155448">
              <a:spcAft>
                <a:spcPts val="300"/>
              </a:spcAft>
              <a:buClr>
                <a:srgbClr val="1F6FD1"/>
              </a:buClr>
              <a:buFont typeface="Arial"/>
              <a:buChar char="•"/>
            </a:pPr>
            <a:r>
              <a:rPr sz="900" b="1" i="0" u="none">
                <a:solidFill>
                  <a:srgbClr val="1F2937"/>
                </a:solidFill>
                <a:latin typeface="Calibri"/>
              </a:rPr>
              <a:t>NCPOR news RSS</a:t>
            </a:r>
            <a:r>
              <a:rPr sz="900" b="0" i="0" u="none">
                <a:solidFill>
                  <a:srgbClr val="1F2937"/>
                </a:solidFill>
                <a:latin typeface="Calibri"/>
              </a:rPr>
              <a:t> · 837 posts since 2012</a:t>
            </a:r>
          </a:p>
          <a:p>
            <a:pPr algn="l" marL="155448" indent="-155448">
              <a:spcAft>
                <a:spcPts val="300"/>
              </a:spcAft>
              <a:buClr>
                <a:srgbClr val="1F6FD1"/>
              </a:buClr>
              <a:buFont typeface="Arial"/>
              <a:buChar char="•"/>
            </a:pPr>
            <a:r>
              <a:rPr sz="900" b="1" i="0" u="none">
                <a:solidFill>
                  <a:srgbClr val="1F2937"/>
                </a:solidFill>
                <a:latin typeface="Calibri"/>
              </a:rPr>
              <a:t>NPDC</a:t>
            </a:r>
            <a:r>
              <a:rPr sz="900" b="0" i="0" u="none">
                <a:solidFill>
                  <a:srgbClr val="1F2937"/>
                </a:solidFill>
                <a:latin typeface="Calibri"/>
              </a:rPr>
              <a:t> · link-only until NCPOR permits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6885432" y="3017520"/>
            <a:ext cx="91440" cy="0"/>
          </a:xfrm>
          <a:prstGeom prst="line">
            <a:avLst/>
          </a:prstGeom>
          <a:ln w="28575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Oval 17435"/>
          <p:cNvSpPr/>
          <p:nvPr/>
        </p:nvSpPr>
        <p:spPr>
          <a:xfrm>
            <a:off x="6995160" y="1828800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6995160" y="1828800"/>
            <a:ext cx="47548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 i="0" u="none">
                <a:solidFill>
                  <a:srgbClr val="128C7E"/>
                </a:solidFill>
                <a:latin typeface="Calibri"/>
              </a:rPr>
              <a:t>2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525512" y="1901952"/>
            <a:ext cx="182880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 u="none">
                <a:solidFill>
                  <a:srgbClr val="128C7E"/>
                </a:solidFill>
                <a:latin typeface="Calibri"/>
              </a:rPr>
              <a:t>READ &amp; LINK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995160" y="2395728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0" name="Picture 17439" descr="scan_nav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42832" y="2450592"/>
            <a:ext cx="274320" cy="274320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7068312" y="2468880"/>
            <a:ext cx="1874519" cy="123444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300"/>
              </a:spcAft>
              <a:buClr>
                <a:srgbClr val="128C7E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Text layer first, Tesseract OCR if not</a:t>
            </a:r>
          </a:p>
          <a:p>
            <a:pPr algn="l" marL="155448" indent="-155448">
              <a:spcAft>
                <a:spcPts val="300"/>
              </a:spcAft>
              <a:buClr>
                <a:srgbClr val="128C7E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Printed page numbers · page images</a:t>
            </a:r>
          </a:p>
          <a:p>
            <a:pPr algn="l" marL="155448" indent="-155448">
              <a:spcAft>
                <a:spcPts val="300"/>
              </a:spcAft>
              <a:buClr>
                <a:srgbClr val="128C7E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Rules → AI fallback (always unconfirmed)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9354312" y="3017520"/>
            <a:ext cx="91440" cy="0"/>
          </a:xfrm>
          <a:prstGeom prst="line">
            <a:avLst/>
          </a:prstGeom>
          <a:ln w="28575">
            <a:solidFill>
              <a:srgbClr val="128C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Oval 17442"/>
          <p:cNvSpPr/>
          <p:nvPr/>
        </p:nvSpPr>
        <p:spPr>
          <a:xfrm>
            <a:off x="9464040" y="1828800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B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9464040" y="1828800"/>
            <a:ext cx="47548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 i="0" u="none">
                <a:solidFill>
                  <a:srgbClr val="5B3FA8"/>
                </a:solidFill>
                <a:latin typeface="Calibri"/>
              </a:rPr>
              <a:t>3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9994392" y="1901952"/>
            <a:ext cx="182880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 u="none">
                <a:solidFill>
                  <a:srgbClr val="5B3FA8"/>
                </a:solidFill>
                <a:latin typeface="Calibri"/>
              </a:rPr>
              <a:t>CORE ENGINE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9464040" y="2395728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7" name="Picture 17446" descr="brain_navy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11712" y="2450592"/>
            <a:ext cx="274320" cy="274320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9537192" y="2468880"/>
            <a:ext cx="1874519" cy="123444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300"/>
              </a:spcAft>
              <a:buClr>
                <a:srgbClr val="5B3FA8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Hybrid search: keyword + meaning (RRF)</a:t>
            </a:r>
          </a:p>
          <a:p>
            <a:pPr algn="l" marL="155448" indent="-155448">
              <a:spcAft>
                <a:spcPts val="300"/>
              </a:spcAft>
              <a:buClr>
                <a:srgbClr val="5B3FA8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Refusal below relevance threshold</a:t>
            </a:r>
          </a:p>
          <a:p>
            <a:pPr algn="l" marL="155448" indent="-155448">
              <a:spcAft>
                <a:spcPts val="300"/>
              </a:spcAft>
              <a:buClr>
                <a:srgbClr val="5B3FA8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Grounded drafts: answer · lesson · post · Hindi</a:t>
            </a:r>
          </a:p>
        </p:txBody>
      </p:sp>
      <p:sp>
        <p:nvSpPr>
          <p:cNvPr id="17449" name="Oval 17448"/>
          <p:cNvSpPr/>
          <p:nvPr/>
        </p:nvSpPr>
        <p:spPr>
          <a:xfrm>
            <a:off x="4526280" y="3913631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4526280" y="3913631"/>
            <a:ext cx="47548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 i="0" u="none">
                <a:solidFill>
                  <a:srgbClr val="D95926"/>
                </a:solidFill>
                <a:latin typeface="Calibri"/>
              </a:rPr>
              <a:t>4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056632" y="3986783"/>
            <a:ext cx="182880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 u="none">
                <a:solidFill>
                  <a:srgbClr val="D95926"/>
                </a:solidFill>
                <a:latin typeface="Calibri"/>
              </a:rPr>
              <a:t>VERIFY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4526280" y="4480559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3" name="Picture 17452" descr="listcheck_nav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3952" y="4535423"/>
            <a:ext cx="274320" cy="274320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4599432" y="4553712"/>
            <a:ext cx="1874519" cy="123444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300"/>
              </a:spcAft>
              <a:buClr>
                <a:srgbClr val="D95926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Each sentence: supported / partial / unsupported</a:t>
            </a:r>
          </a:p>
          <a:p>
            <a:pPr algn="l" marL="155448" indent="-155448">
              <a:spcAft>
                <a:spcPts val="300"/>
              </a:spcAft>
              <a:buClr>
                <a:srgbClr val="D95926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Unsupported sentences block approval</a:t>
            </a:r>
          </a:p>
          <a:p>
            <a:pPr algn="l" marL="155448" indent="-155448">
              <a:spcAft>
                <a:spcPts val="300"/>
              </a:spcAft>
              <a:buClr>
                <a:srgbClr val="D95926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Named reviewer approves · audit trail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6885432" y="5102351"/>
            <a:ext cx="91440" cy="0"/>
          </a:xfrm>
          <a:prstGeom prst="line">
            <a:avLst/>
          </a:prstGeom>
          <a:ln w="28575">
            <a:solidFill>
              <a:srgbClr val="D959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Oval 17455"/>
          <p:cNvSpPr/>
          <p:nvPr/>
        </p:nvSpPr>
        <p:spPr>
          <a:xfrm>
            <a:off x="6995160" y="3913631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6995160" y="3913631"/>
            <a:ext cx="47548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 i="0" u="none">
                <a:solidFill>
                  <a:srgbClr val="1E2761"/>
                </a:solidFill>
                <a:latin typeface="Calibri"/>
              </a:rPr>
              <a:t>5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7525512" y="3986783"/>
            <a:ext cx="182880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 u="none">
                <a:solidFill>
                  <a:srgbClr val="1E2761"/>
                </a:solidFill>
                <a:latin typeface="Calibri"/>
              </a:rPr>
              <a:t>SERVE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6995160" y="4480559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0" name="Picture 17459" descr="server_navy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42832" y="4535423"/>
            <a:ext cx="274320" cy="274320"/>
          </a:xfrm>
          <a:prstGeom prst="rect">
            <a:avLst/>
          </a:prstGeom>
        </p:spPr>
      </p:pic>
      <p:sp>
        <p:nvSpPr>
          <p:cNvPr id="17461" name="TextBox 17460"/>
          <p:cNvSpPr txBox="1"/>
          <p:nvPr/>
        </p:nvSpPr>
        <p:spPr>
          <a:xfrm>
            <a:off x="7068312" y="4553712"/>
            <a:ext cx="1874519" cy="123444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300"/>
              </a:spcAft>
              <a:buClr>
                <a:srgbClr val="1E2761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FastAPI · role-based staff API</a:t>
            </a:r>
          </a:p>
          <a:p>
            <a:pPr algn="l" marL="155448" indent="-155448">
              <a:spcAft>
                <a:spcPts val="300"/>
              </a:spcAft>
              <a:buClr>
                <a:srgbClr val="1E2761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Public endpoints read-only</a:t>
            </a:r>
          </a:p>
          <a:p>
            <a:pPr algn="l" marL="155448" indent="-155448">
              <a:spcAft>
                <a:spcPts val="300"/>
              </a:spcAft>
              <a:buClr>
                <a:srgbClr val="1E2761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Cached AI responses for offline demo</a:t>
            </a:r>
          </a:p>
        </p:txBody>
      </p:sp>
      <p:cxnSp>
        <p:nvCxnSpPr>
          <p:cNvPr id="17462" name="Connector 17461"/>
          <p:cNvCxnSpPr/>
          <p:nvPr/>
        </p:nvCxnSpPr>
        <p:spPr>
          <a:xfrm>
            <a:off x="9354312" y="5102351"/>
            <a:ext cx="91440" cy="0"/>
          </a:xfrm>
          <a:prstGeom prst="line">
            <a:avLst/>
          </a:prstGeom>
          <a:ln w="285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3" name="Oval 17462"/>
          <p:cNvSpPr/>
          <p:nvPr/>
        </p:nvSpPr>
        <p:spPr>
          <a:xfrm>
            <a:off x="9464040" y="3913631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9464040" y="3913631"/>
            <a:ext cx="47548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 i="0" u="none">
                <a:solidFill>
                  <a:srgbClr val="148A5B"/>
                </a:solidFill>
                <a:latin typeface="Calibri"/>
              </a:rPr>
              <a:t>6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9994392" y="3986783"/>
            <a:ext cx="182880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 u="none">
                <a:solidFill>
                  <a:srgbClr val="148A5B"/>
                </a:solidFill>
                <a:latin typeface="Calibri"/>
              </a:rPr>
              <a:t>DELIVER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9464040" y="4480559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7" name="Picture 17466" descr="display_navy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411712" y="4535423"/>
            <a:ext cx="274320" cy="274320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9537192" y="4553712"/>
            <a:ext cx="1874519" cy="123444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300"/>
              </a:spcAft>
              <a:buClr>
                <a:srgbClr val="148A5B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Search · Ask · scan beside text</a:t>
            </a:r>
          </a:p>
          <a:p>
            <a:pPr algn="l" marL="155448" indent="-155448">
              <a:spcAft>
                <a:spcPts val="300"/>
              </a:spcAft>
              <a:buClr>
                <a:srgbClr val="148A5B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Expedition pages · coverage view</a:t>
            </a:r>
          </a:p>
          <a:p>
            <a:pPr algn="l" marL="155448" indent="-155448">
              <a:spcAft>
                <a:spcPts val="300"/>
              </a:spcAft>
              <a:buClr>
                <a:srgbClr val="148A5B"/>
              </a:buClr>
              <a:buFont typeface="Arial"/>
              <a:buChar char="•"/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Lessons &amp; stories in English / Hindi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4526280" y="5961888"/>
            <a:ext cx="7315200" cy="329184"/>
          </a:xfrm>
          <a:prstGeom prst="roundRect">
            <a:avLst>
              <a:gd name="adj" fmla="val 22222"/>
            </a:avLst>
          </a:prstGeom>
          <a:solidFill>
            <a:srgbClr val="EAF2FC"/>
          </a:solidFill>
          <a:ln w="12700">
            <a:solidFill>
              <a:srgbClr val="9DB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4617720" y="5961888"/>
            <a:ext cx="71323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 u="none">
                <a:solidFill>
                  <a:srgbClr val="1E2761"/>
                </a:solidFill>
                <a:latin typeface="Calibri"/>
              </a:rPr>
              <a:t>Evaluation:</a:t>
            </a:r>
            <a:r>
              <a:rPr sz="950" b="0" i="0" u="none">
                <a:solidFill>
                  <a:srgbClr val="1E2761"/>
                </a:solidFill>
                <a:latin typeface="Calibri"/>
              </a:rPr>
              <a:t> hand-verified test set, scored once → citation accuracy [__%] · refusal accuracy [__%]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Team - Anarch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/>
            <a:r>
              <a:rPr sz="1300" b="1" i="0" u="none">
                <a:solidFill>
                  <a:srgbClr val="1E2761"/>
                </a:solidFill>
                <a:latin typeface="Arial"/>
              </a:rPr>
              <a:t>TEAM</a:t>
            </a:r>
            <a:endParaRPr lang="en-IN" dirty="0"/>
          </a:p>
          <a:p>
            <a:pPr algn="ctr"/>
            <a:r>
              <a:rPr sz="1300" b="1" i="0" u="none">
                <a:solidFill>
                  <a:srgbClr val="1E2761"/>
                </a:solidFill>
                <a:latin typeface="Arial"/>
              </a:rPr>
              <a:t>ANARCH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188720"/>
            <a:ext cx="5943600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 u="none">
                <a:solidFill>
                  <a:srgbClr val="1F6FD1"/>
                </a:solidFill>
                <a:latin typeface="Segoe UI Symbol"/>
              </a:rPr>
              <a:t>✔ </a:t>
            </a:r>
            <a:r>
              <a:rPr sz="1350" b="1" i="0" u="none">
                <a:solidFill>
                  <a:srgbClr val="1F6FD1"/>
                </a:solidFill>
                <a:latin typeface="Calibri"/>
              </a:rPr>
              <a:t>FEASIBILITY — already proven, not projected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685800" y="160020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arch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4" y="1724924"/>
            <a:ext cx="317479" cy="317479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411480" y="2194560"/>
            <a:ext cx="118872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900" b="1" i="0" u="none">
                <a:solidFill>
                  <a:srgbClr val="1E2761"/>
                </a:solidFill>
                <a:latin typeface="Calibri"/>
              </a:rPr>
              <a:t>797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5760" y="2560320"/>
            <a:ext cx="128016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B6475"/>
                </a:solidFill>
                <a:latin typeface="Calibri"/>
              </a:rPr>
              <a:t>reports &amp; papers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B6475"/>
                </a:solidFill>
                <a:latin typeface="Calibri"/>
              </a:rPr>
              <a:t>harvested, zero entry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2148840" y="1600200"/>
            <a:ext cx="566928" cy="566928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6" name="Picture 17415" descr="s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564" y="1724924"/>
            <a:ext cx="317479" cy="317479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1874520" y="2194560"/>
            <a:ext cx="118872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900" b="1" i="0" u="none">
                <a:solidFill>
                  <a:srgbClr val="1F6FD1"/>
                </a:solidFill>
                <a:latin typeface="Calibri"/>
              </a:rPr>
              <a:t>3,266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828800" y="2560320"/>
            <a:ext cx="128016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B6475"/>
                </a:solidFill>
                <a:latin typeface="Calibri"/>
              </a:rPr>
              <a:t>scanned pages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B6475"/>
                </a:solidFill>
                <a:latin typeface="Calibri"/>
              </a:rPr>
              <a:t>read &amp; searchable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3611880" y="1600200"/>
            <a:ext cx="566928" cy="566928"/>
          </a:xfrm>
          <a:prstGeom prst="ellipse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0" name="Picture 17419" descr="com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6604" y="1724924"/>
            <a:ext cx="317479" cy="317479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3337560" y="2194560"/>
            <a:ext cx="118872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900" b="1" i="0" u="none">
                <a:solidFill>
                  <a:srgbClr val="128C7E"/>
                </a:solidFill>
                <a:latin typeface="Calibri"/>
              </a:rPr>
              <a:t>52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291840" y="2560320"/>
            <a:ext cx="128016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B6475"/>
                </a:solidFill>
                <a:latin typeface="Calibri"/>
              </a:rPr>
              <a:t>expeditions in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B6475"/>
                </a:solidFill>
                <a:latin typeface="Calibri"/>
              </a:rPr>
              <a:t>the coverage view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5074920" y="1600200"/>
            <a:ext cx="566928" cy="566928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4" name="Picture 17423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9644" y="1724924"/>
            <a:ext cx="317479" cy="317479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4800600" y="2194560"/>
            <a:ext cx="118872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900" b="1" i="0" u="none">
                <a:solidFill>
                  <a:srgbClr val="148A5B"/>
                </a:solidFill>
                <a:latin typeface="Calibri"/>
              </a:rPr>
              <a:t>25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754880" y="2560320"/>
            <a:ext cx="128016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B6475"/>
                </a:solidFill>
                <a:latin typeface="Calibri"/>
              </a:rPr>
              <a:t>automated tests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B6475"/>
                </a:solidFill>
                <a:latin typeface="Calibri"/>
              </a:rPr>
              <a:t>passing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20040" y="3035808"/>
            <a:ext cx="5897880" cy="768096"/>
          </a:xfrm>
          <a:prstGeom prst="roundRect">
            <a:avLst>
              <a:gd name="adj" fmla="val 11904"/>
            </a:avLst>
          </a:prstGeom>
          <a:solidFill>
            <a:srgbClr val="FB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457200" y="3072384"/>
            <a:ext cx="5669280" cy="8046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200"/>
              </a:spcAft>
              <a:buClr>
                <a:srgbClr val="1F6FD1"/>
              </a:buClr>
              <a:buFont typeface="Arial"/>
              <a:buChar char="•"/>
            </a:pPr>
            <a:r>
              <a:rPr sz="950" b="1" i="0" u="none">
                <a:solidFill>
                  <a:srgbClr val="1F6FD1"/>
                </a:solidFill>
                <a:latin typeface="Calibri"/>
              </a:rPr>
              <a:t>Runs on a laptop CPU: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search model runs locally — no GPU; one database, one backend</a:t>
            </a:r>
          </a:p>
          <a:p>
            <a:pPr algn="l" marL="155448" indent="-155448">
              <a:spcAft>
                <a:spcPts val="200"/>
              </a:spcAft>
              <a:buClr>
                <a:srgbClr val="1F6FD1"/>
              </a:buClr>
              <a:buFont typeface="Arial"/>
              <a:buChar char="•"/>
            </a:pPr>
            <a:r>
              <a:rPr sz="950" b="1" i="0" u="none">
                <a:solidFill>
                  <a:srgbClr val="1F6FD1"/>
                </a:solidFill>
                <a:latin typeface="Calibri"/>
              </a:rPr>
              <a:t>Zero new work for NCPOR: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harvests DSpace + news that already exist; review is the only staff task</a:t>
            </a:r>
          </a:p>
          <a:p>
            <a:pPr algn="l" marL="155448" indent="-155448">
              <a:spcAft>
                <a:spcPts val="200"/>
              </a:spcAft>
              <a:buClr>
                <a:srgbClr val="1F6FD1"/>
              </a:buClr>
              <a:buFont typeface="Arial"/>
              <a:buChar char="•"/>
            </a:pPr>
            <a:r>
              <a:rPr sz="950" b="1" i="0" u="none">
                <a:solidFill>
                  <a:srgbClr val="1F6FD1"/>
                </a:solidFill>
                <a:latin typeface="Calibri"/>
              </a:rPr>
              <a:t>Open standards, open source:</a:t>
            </a:r>
            <a:r>
              <a:rPr sz="950" b="0" i="0" u="none">
                <a:solidFill>
                  <a:srgbClr val="1F2937"/>
                </a:solidFill>
                <a:latin typeface="Calibri"/>
              </a:rPr>
              <a:t> OAI-PMH, PostgreSQL, Next.js — zero licence cost</a:t>
            </a:r>
          </a:p>
        </p:txBody>
      </p:sp>
      <p:graphicFrame>
        <p:nvGraphicFramePr>
          <p:cNvPr id="17429" name="Table 17428"/>
          <p:cNvGraphicFramePr>
            <a:graphicFrameLocks noGrp="1"/>
          </p:cNvGraphicFramePr>
          <p:nvPr/>
        </p:nvGraphicFramePr>
        <p:xfrm>
          <a:off x="320040" y="3931920"/>
          <a:ext cx="5897880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3657600"/>
              </a:tblGrid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u="none">
                          <a:solidFill>
                            <a:srgbClr val="FFFFFF"/>
                          </a:solidFill>
                          <a:latin typeface="Calibri"/>
                        </a:rPr>
                        <a:t>⚠  RISKS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u="none">
                          <a:solidFill>
                            <a:srgbClr val="FFFFFF"/>
                          </a:solidFill>
                          <a:latin typeface="Calibri"/>
                        </a:rPr>
                        <a:t>🛡  HOW WE HANDLE THEM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u="none">
                          <a:solidFill>
                            <a:srgbClr val="1F2937"/>
                          </a:solidFill>
                          <a:latin typeface="Calibri"/>
                        </a:rPr>
                        <a:t>1980s scans read badly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1F2937"/>
                          </a:solidFill>
                          <a:latin typeface="Calibri"/>
                        </a:rPr>
                        <a:t>Text layer first; OCR confidence shown; original page beside every quote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u="none">
                          <a:solidFill>
                            <a:srgbClr val="1F2937"/>
                          </a:solidFill>
                          <a:latin typeface="Calibri"/>
                        </a:rPr>
                        <a:t>AI states what the source doesn’t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1F2937"/>
                          </a:solidFill>
                          <a:latin typeface="Calibri"/>
                        </a:rPr>
                        <a:t>Per-sentence checker; unsupported blocks approval; refusal threshold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u="none">
                          <a:solidFill>
                            <a:srgbClr val="1F2937"/>
                          </a:solidFill>
                          <a:latin typeface="Calibri"/>
                        </a:rPr>
                        <a:t>Looks like other SIH AI portals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1F2937"/>
                          </a:solidFill>
                          <a:latin typeface="Calibri"/>
                        </a:rPr>
                        <a:t>Real archive, zero entry, coverage view, measured accuracy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u="none">
                          <a:solidFill>
                            <a:srgbClr val="1F2937"/>
                          </a:solidFill>
                          <a:latin typeface="Calibri"/>
                        </a:rPr>
                        <a:t>NPDC not open to harvesting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1F2937"/>
                          </a:solidFill>
                          <a:latin typeface="Calibri"/>
                        </a:rPr>
                        <a:t>Link-only until NCPOR permits; adapter slot ready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 u="none">
                          <a:solidFill>
                            <a:srgbClr val="1F2937"/>
                          </a:solidFill>
                          <a:latin typeface="Calibri"/>
                        </a:rPr>
                        <a:t>AI API outage or rate limits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1F2937"/>
                          </a:solidFill>
                          <a:latin typeface="Calibri"/>
                        </a:rPr>
                        <a:t>Retries + cached answers; search works without AI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30" name="TextBox 17429"/>
          <p:cNvSpPr txBox="1"/>
          <p:nvPr/>
        </p:nvSpPr>
        <p:spPr>
          <a:xfrm>
            <a:off x="6492240" y="1188720"/>
            <a:ext cx="5303520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 u="none">
                <a:solidFill>
                  <a:srgbClr val="1F6FD1"/>
                </a:solidFill>
                <a:latin typeface="Segoe UI Symbol"/>
              </a:rPr>
              <a:t>➜ </a:t>
            </a:r>
            <a:r>
              <a:rPr sz="1350" b="1" i="0" u="none">
                <a:solidFill>
                  <a:srgbClr val="1F6FD1"/>
                </a:solidFill>
                <a:latin typeface="Calibri"/>
              </a:rPr>
              <a:t>VIABILITY — path to operations</a:t>
            </a:r>
          </a:p>
        </p:txBody>
      </p:sp>
      <p:sp>
        <p:nvSpPr>
          <p:cNvPr id="17431" name="Oval 17430"/>
          <p:cNvSpPr/>
          <p:nvPr/>
        </p:nvSpPr>
        <p:spPr>
          <a:xfrm>
            <a:off x="7571231" y="2313432"/>
            <a:ext cx="3145536" cy="31455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Oval 17431"/>
          <p:cNvSpPr/>
          <p:nvPr/>
        </p:nvSpPr>
        <p:spPr>
          <a:xfrm>
            <a:off x="8366760" y="3319272"/>
            <a:ext cx="1554480" cy="1133856"/>
          </a:xfrm>
          <a:prstGeom prst="ellipse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8394192" y="3383280"/>
            <a:ext cx="1499616" cy="10058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Calibri"/>
              </a:rPr>
              <a:t>Polar Index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Calibri"/>
              </a:rPr>
              <a:t>engine</a:t>
            </a:r>
          </a:p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Calibri"/>
              </a:rPr>
              <a:t>harvest · link</a:t>
            </a:r>
          </a:p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Calibri"/>
              </a:rPr>
              <a:t>cite · review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8458200" y="1627632"/>
            <a:ext cx="1371600" cy="1371600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8503920" y="1810512"/>
            <a:ext cx="1280160" cy="10058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FFFFFF"/>
                </a:solidFill>
                <a:latin typeface="Calibri"/>
              </a:rPr>
              <a:t>① Prototype ✓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Calibri"/>
              </a:rPr>
              <a:t>Real DSpace + news;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Calibri"/>
              </a:rPr>
              <a:t>10 reports read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10030968" y="3200400"/>
            <a:ext cx="1371600" cy="1371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10076688" y="3383280"/>
            <a:ext cx="1280160" cy="10058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FFFFFF"/>
                </a:solidFill>
                <a:latin typeface="Calibri"/>
              </a:rPr>
              <a:t>② NCPOR pilot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Calibri"/>
              </a:rPr>
              <a:t>Library / NPDC curators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Calibri"/>
              </a:rPr>
              <a:t>confirm links</a:t>
            </a:r>
          </a:p>
        </p:txBody>
      </p:sp>
      <p:sp>
        <p:nvSpPr>
          <p:cNvPr id="17438" name="Oval 17437"/>
          <p:cNvSpPr/>
          <p:nvPr/>
        </p:nvSpPr>
        <p:spPr>
          <a:xfrm>
            <a:off x="8458200" y="4773168"/>
            <a:ext cx="1371600" cy="1371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8503920" y="4956048"/>
            <a:ext cx="1280160" cy="10058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FFFFFF"/>
                </a:solidFill>
                <a:latin typeface="Calibri"/>
              </a:rPr>
              <a:t>③ Full archive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Calibri"/>
              </a:rPr>
              <a:t>All reports; 31–45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Calibri"/>
              </a:rPr>
              <a:t>from digital files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6885431" y="3200400"/>
            <a:ext cx="1371600" cy="1371600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6931151" y="3383280"/>
            <a:ext cx="1280160" cy="10058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FFFFFF"/>
                </a:solidFill>
                <a:latin typeface="Calibri"/>
              </a:rPr>
              <a:t>④ Daily operations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Calibri"/>
              </a:rPr>
              <a:t>Nightly harvest; feeds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Calibri"/>
              </a:rPr>
              <a:t>Polar &amp; Ocean Museum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Team - Anarch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/>
            <a:r>
              <a:rPr sz="1300" b="1" i="0" u="none">
                <a:solidFill>
                  <a:srgbClr val="1E2761"/>
                </a:solidFill>
                <a:latin typeface="Arial"/>
              </a:rPr>
              <a:t>TEAM</a:t>
            </a:r>
            <a:endParaRPr lang="en-IN" dirty="0"/>
          </a:p>
          <a:p>
            <a:pPr algn="ctr"/>
            <a:r>
              <a:rPr sz="1300" b="1" i="0" u="none">
                <a:solidFill>
                  <a:srgbClr val="1E2761"/>
                </a:solidFill>
                <a:latin typeface="Arial"/>
              </a:rPr>
              <a:t>ANARCH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70432"/>
            <a:ext cx="6766560" cy="329184"/>
          </a:xfrm>
          <a:prstGeom prst="roundRect">
            <a:avLst>
              <a:gd name="adj" fmla="val 33333"/>
            </a:avLst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320040" y="1170432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250" b="1" i="0" u="none">
                <a:solidFill>
                  <a:srgbClr val="FFFFFF"/>
                </a:solidFill>
                <a:latin typeface="Calibri"/>
              </a:rPr>
              <a:t>PRACTICAL IMPACT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20040" y="1554480"/>
            <a:ext cx="676656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1F2937"/>
                </a:solidFill>
                <a:latin typeface="Calibri"/>
              </a:rPr>
              <a:t>Case study · a student asks:</a:t>
            </a:r>
            <a:r>
              <a:rPr sz="1000" b="0" i="0" u="none">
                <a:solidFill>
                  <a:srgbClr val="1F2937"/>
                </a:solidFill>
                <a:latin typeface="Calibri"/>
              </a:rPr>
              <a:t> “Has India measured how the Dakshin Gangotri glacier is moving?”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20040" y="1828800"/>
            <a:ext cx="219456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950" b="1" i="0" u="none">
                <a:solidFill>
                  <a:srgbClr val="1F6FD1"/>
                </a:solidFill>
                <a:latin typeface="Calibri"/>
              </a:rPr>
              <a:t>① Search finds the papers</a:t>
            </a:r>
          </a:p>
        </p:txBody>
      </p:sp>
      <p:pic>
        <p:nvPicPr>
          <p:cNvPr id="17414" name="Picture 17413" descr="s5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084831"/>
            <a:ext cx="2194560" cy="1366787"/>
          </a:xfrm>
          <a:prstGeom prst="rect">
            <a:avLst/>
          </a:prstGeom>
          <a:ln w="12700">
            <a:solidFill>
              <a:srgbClr val="5B6475"/>
            </a:solidFill>
          </a:ln>
        </p:spPr>
      </p:pic>
      <p:sp>
        <p:nvSpPr>
          <p:cNvPr id="17415" name="TextBox 17414"/>
          <p:cNvSpPr txBox="1"/>
          <p:nvPr/>
        </p:nvSpPr>
        <p:spPr>
          <a:xfrm>
            <a:off x="2606040" y="1828800"/>
            <a:ext cx="219456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950" b="1" i="0" u="none">
                <a:solidFill>
                  <a:srgbClr val="D95926"/>
                </a:solidFill>
                <a:latin typeface="Calibri"/>
              </a:rPr>
              <a:t>② Cited draft, every sentence checked</a:t>
            </a:r>
          </a:p>
        </p:txBody>
      </p:sp>
      <p:pic>
        <p:nvPicPr>
          <p:cNvPr id="17416" name="Picture 17415" descr="s5_ans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2084831"/>
            <a:ext cx="2194560" cy="1361183"/>
          </a:xfrm>
          <a:prstGeom prst="rect">
            <a:avLst/>
          </a:prstGeom>
          <a:ln w="12700">
            <a:solidFill>
              <a:srgbClr val="5B6475"/>
            </a:solidFill>
          </a:ln>
        </p:spPr>
      </p:pic>
      <p:sp>
        <p:nvSpPr>
          <p:cNvPr id="17417" name="TextBox 17416"/>
          <p:cNvSpPr txBox="1"/>
          <p:nvPr/>
        </p:nvSpPr>
        <p:spPr>
          <a:xfrm>
            <a:off x="4892040" y="1828800"/>
            <a:ext cx="219456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950" b="1" i="0" u="none">
                <a:solidFill>
                  <a:srgbClr val="148A5B"/>
                </a:solidFill>
                <a:latin typeface="Calibri"/>
              </a:rPr>
              <a:t>③ Click through to the scan</a:t>
            </a:r>
          </a:p>
        </p:txBody>
      </p:sp>
      <p:pic>
        <p:nvPicPr>
          <p:cNvPr id="17418" name="Picture 17417" descr="s5_p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084831"/>
            <a:ext cx="2194560" cy="1366787"/>
          </a:xfrm>
          <a:prstGeom prst="rect">
            <a:avLst/>
          </a:prstGeom>
          <a:ln w="12700">
            <a:solidFill>
              <a:srgbClr val="5B6475"/>
            </a:solidFill>
          </a:ln>
        </p:spPr>
      </p:pic>
      <p:sp>
        <p:nvSpPr>
          <p:cNvPr id="17419" name="TextBox 17418"/>
          <p:cNvSpPr txBox="1"/>
          <p:nvPr/>
        </p:nvSpPr>
        <p:spPr>
          <a:xfrm>
            <a:off x="320040" y="3520440"/>
            <a:ext cx="676656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Answer drawn only from glaciology papers in the 9th, 11th, 26th and 30th Expedition reports — e.g. the snout </a:t>
            </a:r>
            <a:r>
              <a:rPr sz="900" b="1" i="0" u="none">
                <a:solidFill>
                  <a:srgbClr val="148A5B"/>
                </a:solidFill>
                <a:latin typeface="Calibri"/>
              </a:rPr>
              <a:t>receded 81 cm in 2011</a:t>
            </a:r>
            <a:r>
              <a:rPr sz="900" b="0" i="0" u="none">
                <a:solidFill>
                  <a:srgbClr val="1F2937"/>
                </a:solidFill>
                <a:latin typeface="Calibri"/>
              </a:rPr>
              <a:t> — each sentence links to its page. Off-archive questions are </a:t>
            </a:r>
            <a:r>
              <a:rPr sz="900" b="1" i="0" u="none">
                <a:solidFill>
                  <a:srgbClr val="D95926"/>
                </a:solidFill>
                <a:latin typeface="Calibri"/>
              </a:rPr>
              <a:t>refused</a:t>
            </a:r>
            <a:r>
              <a:rPr sz="900" b="0" i="0" u="none">
                <a:solidFill>
                  <a:srgbClr val="1F2937"/>
                </a:solidFill>
                <a:latin typeface="Calibri"/>
              </a:rPr>
              <a:t>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0040" y="4041648"/>
            <a:ext cx="3291840" cy="310896"/>
          </a:xfrm>
          <a:prstGeom prst="roundRect">
            <a:avLst>
              <a:gd name="adj" fmla="val 35294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320040" y="4041648"/>
            <a:ext cx="329184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 i="0" u="none">
                <a:solidFill>
                  <a:srgbClr val="FFFFFF"/>
                </a:solidFill>
                <a:latin typeface="Calibri"/>
              </a:rPr>
              <a:t>QUANTIFIED IMPACT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20040" y="4434840"/>
            <a:ext cx="1042415" cy="1097280"/>
          </a:xfrm>
          <a:prstGeom prst="roundRect">
            <a:avLst>
              <a:gd name="adj" fmla="val 7017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320040" y="4462272"/>
            <a:ext cx="1042415" cy="4114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700" b="1" i="0" u="none">
                <a:solidFill>
                  <a:srgbClr val="1F6FD1"/>
                </a:solidFill>
                <a:latin typeface="Calibri"/>
              </a:rPr>
              <a:t>6 → 1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47472" y="4892040"/>
            <a:ext cx="987552" cy="59436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5B6475"/>
                </a:solidFill>
                <a:latin typeface="Calibri"/>
              </a:rPr>
              <a:t>disconnected systems</a:t>
            </a:r>
          </a:p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5B6475"/>
                </a:solidFill>
                <a:latin typeface="Calibri"/>
              </a:rPr>
              <a:t>become one index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1435607" y="4434840"/>
            <a:ext cx="1042415" cy="1097280"/>
          </a:xfrm>
          <a:prstGeom prst="roundRect">
            <a:avLst>
              <a:gd name="adj" fmla="val 7017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1435607" y="4462272"/>
            <a:ext cx="1042415" cy="4114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700" b="1" i="0" u="none">
                <a:solidFill>
                  <a:srgbClr val="148A5B"/>
                </a:solidFill>
                <a:latin typeface="Calibri"/>
              </a:rPr>
              <a:t>0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463039" y="4892040"/>
            <a:ext cx="987552" cy="59436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5B6475"/>
                </a:solidFill>
                <a:latin typeface="Calibri"/>
              </a:rPr>
              <a:t>new records typed</a:t>
            </a:r>
          </a:p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5B6475"/>
                </a:solidFill>
                <a:latin typeface="Calibri"/>
              </a:rPr>
              <a:t>by NCPOR staff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2551176" y="4434840"/>
            <a:ext cx="1042415" cy="1097280"/>
          </a:xfrm>
          <a:prstGeom prst="roundRect">
            <a:avLst>
              <a:gd name="adj" fmla="val 7017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2551176" y="4462272"/>
            <a:ext cx="1042415" cy="4114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700" b="1" i="0" u="none">
                <a:solidFill>
                  <a:srgbClr val="D95926"/>
                </a:solidFill>
                <a:latin typeface="Calibri"/>
              </a:rPr>
              <a:t>[__%]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2578608" y="4892040"/>
            <a:ext cx="987552" cy="59436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5B6475"/>
                </a:solidFill>
                <a:latin typeface="Calibri"/>
              </a:rPr>
              <a:t>citation accuracy,</a:t>
            </a:r>
          </a:p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5B6475"/>
                </a:solidFill>
                <a:latin typeface="Calibri"/>
              </a:rPr>
              <a:t>hand-verified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794760" y="4041648"/>
            <a:ext cx="3291840" cy="310896"/>
          </a:xfrm>
          <a:prstGeom prst="roundRect">
            <a:avLst>
              <a:gd name="adj" fmla="val 35294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3794760" y="4041648"/>
            <a:ext cx="329184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 i="0" u="none">
                <a:solidFill>
                  <a:srgbClr val="FFFFFF"/>
                </a:solidFill>
                <a:latin typeface="Calibri"/>
              </a:rPr>
              <a:t>WHO BENEFITS ?</a:t>
            </a:r>
          </a:p>
        </p:txBody>
      </p:sp>
      <p:sp>
        <p:nvSpPr>
          <p:cNvPr id="17433" name="Oval 17432"/>
          <p:cNvSpPr/>
          <p:nvPr/>
        </p:nvSpPr>
        <p:spPr>
          <a:xfrm>
            <a:off x="4142232" y="4434840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4" name="Picture 17433" descr="gov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0745" y="4523353"/>
            <a:ext cx="225308" cy="225308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3794760" y="4855464"/>
            <a:ext cx="10972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F2937"/>
                </a:solidFill>
                <a:latin typeface="Calibri"/>
              </a:rPr>
              <a:t>NCPOR outreach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F2937"/>
                </a:solidFill>
                <a:latin typeface="Calibri"/>
              </a:rPr>
              <a:t>&amp; MoES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5239512" y="4434840"/>
            <a:ext cx="402336" cy="402336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7" name="Picture 17436" descr="c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8025" y="4523353"/>
            <a:ext cx="225308" cy="225308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4892040" y="4855464"/>
            <a:ext cx="10972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F2937"/>
                </a:solidFill>
                <a:latin typeface="Calibri"/>
              </a:rPr>
              <a:t>Teachers &amp;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F2937"/>
                </a:solidFill>
                <a:latin typeface="Calibri"/>
              </a:rPr>
              <a:t>students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6336792" y="4434840"/>
            <a:ext cx="402336" cy="402336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0" name="Picture 17439" descr="microscop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5305" y="4523353"/>
            <a:ext cx="225308" cy="225308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5989320" y="4855464"/>
            <a:ext cx="10972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F2937"/>
                </a:solidFill>
                <a:latin typeface="Calibri"/>
              </a:rPr>
              <a:t>Researchers &amp;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F2937"/>
                </a:solidFill>
                <a:latin typeface="Calibri"/>
              </a:rPr>
              <a:t>PhD scholars</a:t>
            </a:r>
          </a:p>
        </p:txBody>
      </p:sp>
      <p:sp>
        <p:nvSpPr>
          <p:cNvPr id="17442" name="Oval 17441"/>
          <p:cNvSpPr/>
          <p:nvPr/>
        </p:nvSpPr>
        <p:spPr>
          <a:xfrm>
            <a:off x="4142232" y="5394959"/>
            <a:ext cx="402336" cy="402336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3" name="Picture 17442" descr="newspap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0745" y="5483473"/>
            <a:ext cx="225308" cy="225308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3794760" y="5815583"/>
            <a:ext cx="10972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F2937"/>
                </a:solidFill>
                <a:latin typeface="Calibri"/>
              </a:rPr>
              <a:t>Journalists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F2937"/>
                </a:solidFill>
                <a:latin typeface="Calibri"/>
              </a:rPr>
              <a:t>&amp; media</a:t>
            </a:r>
          </a:p>
        </p:txBody>
      </p:sp>
      <p:sp>
        <p:nvSpPr>
          <p:cNvPr id="17445" name="Oval 17444"/>
          <p:cNvSpPr/>
          <p:nvPr/>
        </p:nvSpPr>
        <p:spPr>
          <a:xfrm>
            <a:off x="5239512" y="5394959"/>
            <a:ext cx="402336" cy="402336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6" name="Picture 17445" descr="museu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8025" y="5483473"/>
            <a:ext cx="225308" cy="225308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4892040" y="5815583"/>
            <a:ext cx="10972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F2937"/>
                </a:solidFill>
                <a:latin typeface="Calibri"/>
              </a:rPr>
              <a:t>Polar &amp; Ocean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F2937"/>
                </a:solidFill>
                <a:latin typeface="Calibri"/>
              </a:rPr>
              <a:t>Museum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7315200" y="1170432"/>
            <a:ext cx="4553712" cy="329184"/>
          </a:xfrm>
          <a:prstGeom prst="roundRect">
            <a:avLst>
              <a:gd name="adj" fmla="val 33333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7315200" y="1170432"/>
            <a:ext cx="4553712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250" b="1" i="0" u="none">
                <a:solidFill>
                  <a:srgbClr val="FFFFFF"/>
                </a:solidFill>
                <a:latin typeface="Calibri"/>
              </a:rPr>
              <a:t>BENEFITS OF THE SOLUTION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7315200" y="1572768"/>
            <a:ext cx="4553712" cy="274320"/>
          </a:xfrm>
          <a:prstGeom prst="rect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1" name="Picture 17450" descr="peo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88352" y="1600200"/>
            <a:ext cx="219456" cy="219456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7680960" y="1572768"/>
            <a:ext cx="41148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7360920" y="1856231"/>
            <a:ext cx="448056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 u="none">
                <a:solidFill>
                  <a:srgbClr val="1F2937"/>
                </a:solidFill>
                <a:latin typeface="Times New Roman"/>
              </a:rPr>
              <a:t>Students get answers they can trust, cited to India’s own reports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7315200" y="2240280"/>
            <a:ext cx="4553712" cy="274320"/>
          </a:xfrm>
          <a:prstGeom prst="rect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5" name="Picture 17454" descr="rupe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88352" y="2267712"/>
            <a:ext cx="219456" cy="219456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7680960" y="2240280"/>
            <a:ext cx="41148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FFFFFF"/>
                </a:solidFill>
                <a:latin typeface="Calibri"/>
              </a:rPr>
              <a:t>ECONOMIC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7360920" y="2523744"/>
            <a:ext cx="448056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 u="none">
                <a:solidFill>
                  <a:srgbClr val="1F2937"/>
                </a:solidFill>
                <a:latin typeface="Times New Roman"/>
              </a:rPr>
              <a:t>No new data-entry cost; open-source stack, zero licence fees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7315200" y="2907791"/>
            <a:ext cx="4553712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9" name="Picture 17458" descr="gov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2935223"/>
            <a:ext cx="219456" cy="219456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7680960" y="2907791"/>
            <a:ext cx="41148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7360920" y="3191256"/>
            <a:ext cx="448056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 u="none">
                <a:solidFill>
                  <a:srgbClr val="1F2937"/>
                </a:solidFill>
                <a:latin typeface="Times New Roman"/>
              </a:rPr>
              <a:t>Outreach posts drafted in minutes from confirmed records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7315200" y="3575304"/>
            <a:ext cx="4553712" cy="274320"/>
          </a:xfrm>
          <a:prstGeom prst="rect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3" name="Picture 17462" descr="chi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8352" y="3602736"/>
            <a:ext cx="219456" cy="219456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7680960" y="3575304"/>
            <a:ext cx="41148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FFFFFF"/>
                </a:solidFill>
                <a:latin typeface="Calibri"/>
              </a:rPr>
              <a:t>TECHNOLOGICAL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7360920" y="3858768"/>
            <a:ext cx="448056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 u="none">
                <a:solidFill>
                  <a:srgbClr val="1F2937"/>
                </a:solidFill>
                <a:latin typeface="Times New Roman"/>
              </a:rPr>
              <a:t>Every public sentence traceable to a page, with an audit log</a:t>
            </a:r>
          </a:p>
        </p:txBody>
      </p:sp>
      <p:sp>
        <p:nvSpPr>
          <p:cNvPr id="17466" name="Rectangle 17465"/>
          <p:cNvSpPr/>
          <p:nvPr/>
        </p:nvSpPr>
        <p:spPr>
          <a:xfrm>
            <a:off x="7315200" y="4242816"/>
            <a:ext cx="4553712" cy="27432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7" name="Picture 17466" descr="lea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88352" y="4270248"/>
            <a:ext cx="219456" cy="219456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7680960" y="4242816"/>
            <a:ext cx="41148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FFFFFF"/>
                </a:solidFill>
                <a:latin typeface="Calibri"/>
              </a:rPr>
              <a:t>ENVIRONMENTAL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7360920" y="4526279"/>
            <a:ext cx="448056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 u="none">
                <a:solidFill>
                  <a:srgbClr val="1F2937"/>
                </a:solidFill>
                <a:latin typeface="Times New Roman"/>
              </a:rPr>
              <a:t>Glacier, ice and climate evidence reaches classrooms</a:t>
            </a:r>
          </a:p>
        </p:txBody>
      </p:sp>
      <p:sp>
        <p:nvSpPr>
          <p:cNvPr id="17470" name="Rectangle 17469"/>
          <p:cNvSpPr/>
          <p:nvPr/>
        </p:nvSpPr>
        <p:spPr>
          <a:xfrm>
            <a:off x="7315200" y="4910328"/>
            <a:ext cx="4553712" cy="274320"/>
          </a:xfrm>
          <a:prstGeom prst="rect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1" name="Picture 17470" descr="flas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88352" y="4937760"/>
            <a:ext cx="219456" cy="219456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7680960" y="4910328"/>
            <a:ext cx="41148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FFFFFF"/>
                </a:solidFill>
                <a:latin typeface="Calibri"/>
              </a:rPr>
              <a:t>SCIENTIFIC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7360920" y="5193792"/>
            <a:ext cx="448056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 u="none">
                <a:solidFill>
                  <a:srgbClr val="1F2937"/>
                </a:solidFill>
                <a:latin typeface="Times New Roman"/>
              </a:rPr>
              <a:t>40 years of expedition science searchable; fewer duplicated baselines</a:t>
            </a:r>
          </a:p>
        </p:txBody>
      </p:sp>
      <p:sp>
        <p:nvSpPr>
          <p:cNvPr id="17474" name="Rectangle 17473"/>
          <p:cNvSpPr/>
          <p:nvPr/>
        </p:nvSpPr>
        <p:spPr>
          <a:xfrm>
            <a:off x="7315200" y="5577840"/>
            <a:ext cx="4553712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5" name="Picture 17474" descr="glob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88352" y="5605272"/>
            <a:ext cx="219456" cy="219456"/>
          </a:xfrm>
          <a:prstGeom prst="rect">
            <a:avLst/>
          </a:prstGeom>
        </p:spPr>
      </p:pic>
      <p:sp>
        <p:nvSpPr>
          <p:cNvPr id="17476" name="TextBox 17475"/>
          <p:cNvSpPr txBox="1"/>
          <p:nvPr/>
        </p:nvSpPr>
        <p:spPr>
          <a:xfrm>
            <a:off x="7680960" y="5577840"/>
            <a:ext cx="411480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FFFFFF"/>
                </a:solidFill>
                <a:latin typeface="Calibri"/>
              </a:rPr>
              <a:t>NATIONAL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7360920" y="5861303"/>
            <a:ext cx="448056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 u="none">
                <a:solidFill>
                  <a:srgbClr val="1F2937"/>
                </a:solidFill>
                <a:latin typeface="Times New Roman"/>
              </a:rPr>
              <a:t>India’s polar programme taught with Indian data; Hindi + GIGW 3.0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Team - Anarch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/>
            <a:r>
              <a:rPr sz="1300" b="1" i="0" u="none">
                <a:solidFill>
                  <a:srgbClr val="1E2761"/>
                </a:solidFill>
                <a:latin typeface="Arial"/>
              </a:rPr>
              <a:t>TEAM</a:t>
            </a:r>
            <a:endParaRPr lang="en-IN" dirty="0"/>
          </a:p>
          <a:p>
            <a:pPr algn="ctr"/>
            <a:r>
              <a:rPr sz="1300" b="1" i="0" u="none">
                <a:solidFill>
                  <a:srgbClr val="1E2761"/>
                </a:solidFill>
                <a:latin typeface="Arial"/>
              </a:rPr>
              <a:t>ANARCH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Oval 17409"/>
          <p:cNvSpPr/>
          <p:nvPr/>
        </p:nvSpPr>
        <p:spPr>
          <a:xfrm>
            <a:off x="320040" y="117957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" y="1239926"/>
            <a:ext cx="153619" cy="153619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58368" y="1170432"/>
            <a:ext cx="542239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 u="none">
                <a:solidFill>
                  <a:srgbClr val="1E2761"/>
                </a:solidFill>
                <a:latin typeface="Calibri"/>
              </a:rPr>
              <a:t>Key research findings (built on NCPOR’s real archive)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0040" y="1554480"/>
            <a:ext cx="5760720" cy="822960"/>
          </a:xfrm>
          <a:prstGeom prst="roundRect">
            <a:avLst>
              <a:gd name="adj" fmla="val 8888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Oval 17413"/>
          <p:cNvSpPr/>
          <p:nvPr/>
        </p:nvSpPr>
        <p:spPr>
          <a:xfrm>
            <a:off x="429768" y="1737360"/>
            <a:ext cx="420624" cy="420624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sitema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05" y="1829897"/>
            <a:ext cx="235549" cy="235549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960120" y="1600200"/>
            <a:ext cx="50292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 u="none">
                <a:solidFill>
                  <a:srgbClr val="1F6FD1"/>
                </a:solidFill>
                <a:latin typeface="Calibri"/>
              </a:rPr>
              <a:t>The archive exists — the links don’t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60120" y="1865376"/>
            <a:ext cx="5029200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Six separate NCPOR systems; DSpace already speaks OAI-PMH, so 32 reports and 765 papers were harvested with no staff effort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0040" y="2450591"/>
            <a:ext cx="5760720" cy="822960"/>
          </a:xfrm>
          <a:prstGeom prst="roundRect">
            <a:avLst>
              <a:gd name="adj" fmla="val 8888"/>
            </a:avLst>
          </a:prstGeom>
          <a:solidFill>
            <a:srgbClr val="FD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Oval 17418"/>
          <p:cNvSpPr/>
          <p:nvPr/>
        </p:nvSpPr>
        <p:spPr>
          <a:xfrm>
            <a:off x="429768" y="2633472"/>
            <a:ext cx="420624" cy="420624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0" name="Picture 17419" descr="sc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305" y="2726009"/>
            <a:ext cx="235549" cy="235549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960120" y="2496311"/>
            <a:ext cx="50292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 u="none">
                <a:solidFill>
                  <a:srgbClr val="D95926"/>
                </a:solidFill>
                <a:latin typeface="Calibri"/>
              </a:rPr>
              <a:t>Old scans are more readable than feared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60120" y="2761487"/>
            <a:ext cx="5029200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9 of 10 reports carry a usable text layer on 68–92% of pages; the 30th was fully OCR’d at 90% mean confidence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0040" y="3346704"/>
            <a:ext cx="5760720" cy="822960"/>
          </a:xfrm>
          <a:prstGeom prst="roundRect">
            <a:avLst>
              <a:gd name="adj" fmla="val 8888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429768" y="3529584"/>
            <a:ext cx="420624" cy="420624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list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305" y="3622121"/>
            <a:ext cx="235549" cy="235549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960120" y="3392424"/>
            <a:ext cx="50292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 u="none">
                <a:solidFill>
                  <a:srgbClr val="148A5B"/>
                </a:solidFill>
                <a:latin typeface="Calibri"/>
              </a:rPr>
              <a:t>AI must be checked sentence by sentence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60120" y="3657600"/>
            <a:ext cx="5029200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0" i="0" u="none">
                <a:solidFill>
                  <a:srgbClr val="1F2937"/>
                </a:solidFill>
                <a:latin typeface="Calibri"/>
              </a:rPr>
              <a:t>In our glacier lesson test the checker flagged 4 of 27 checked sentences unsupported — incl. a general “glaciers move slowly” line absent from the sources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20040" y="4261104"/>
            <a:ext cx="576072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 u="none">
                <a:solidFill>
                  <a:srgbClr val="1E2761"/>
                </a:solidFill>
                <a:latin typeface="Calibri"/>
              </a:rPr>
              <a:t>References :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11480" y="4553712"/>
            <a:ext cx="5669280" cy="146304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100"/>
              </a:spcAft>
              <a:buClr>
                <a:srgbClr val="1F6FD1"/>
              </a:buClr>
              <a:buFont typeface="Arial"/>
              <a:buChar char="•"/>
            </a:pPr>
            <a:r>
              <a:rPr sz="900" u="sng">
                <a:solidFill>
                  <a:srgbClr val="1F6FD1"/>
                </a:solidFill>
                <a:latin typeface="Calibri"/>
                <a:hlinkClick r:id="rId8"/>
              </a:rPr>
              <a:t>DSpace at NCAOR — Scientific Reports of Indian Expeditions to Antarctica</a:t>
            </a:r>
          </a:p>
          <a:p>
            <a:pPr marL="155448" indent="-155448">
              <a:spcAft>
                <a:spcPts val="100"/>
              </a:spcAft>
              <a:buClr>
                <a:srgbClr val="1F6FD1"/>
              </a:buClr>
              <a:buFont typeface="Arial"/>
              <a:buChar char="•"/>
            </a:pPr>
            <a:r>
              <a:rPr sz="900" u="sng">
                <a:solidFill>
                  <a:srgbClr val="1F6FD1"/>
                </a:solidFill>
                <a:latin typeface="Calibri"/>
                <a:hlinkClick r:id="rId9"/>
              </a:rPr>
              <a:t>NCPOR news feed (RSS)</a:t>
            </a:r>
          </a:p>
          <a:p>
            <a:pPr marL="155448" indent="-155448">
              <a:spcAft>
                <a:spcPts val="100"/>
              </a:spcAft>
              <a:buClr>
                <a:srgbClr val="1F6FD1"/>
              </a:buClr>
              <a:buFont typeface="Arial"/>
              <a:buChar char="•"/>
            </a:pPr>
            <a:r>
              <a:rPr sz="900" u="sng">
                <a:solidFill>
                  <a:srgbClr val="1F6FD1"/>
                </a:solidFill>
                <a:latin typeface="Calibri"/>
                <a:hlinkClick r:id="rId10"/>
              </a:rPr>
              <a:t>National Polar Data Center (NPDC), NCPOR</a:t>
            </a:r>
          </a:p>
          <a:p>
            <a:pPr marL="155448" indent="-155448">
              <a:spcAft>
                <a:spcPts val="100"/>
              </a:spcAft>
              <a:buClr>
                <a:srgbClr val="1F6FD1"/>
              </a:buClr>
              <a:buFont typeface="Arial"/>
              <a:buChar char="•"/>
            </a:pPr>
            <a:r>
              <a:rPr sz="900" u="sng">
                <a:solidFill>
                  <a:srgbClr val="1F6FD1"/>
                </a:solidFill>
                <a:latin typeface="Calibri"/>
                <a:hlinkClick r:id="rId11"/>
              </a:rPr>
              <a:t>OAI-PMH v2.0 — Open Archives Initiative protocol</a:t>
            </a:r>
          </a:p>
          <a:p>
            <a:pPr marL="155448" indent="-155448">
              <a:spcAft>
                <a:spcPts val="100"/>
              </a:spcAft>
              <a:buClr>
                <a:srgbClr val="1F6FD1"/>
              </a:buClr>
              <a:buFont typeface="Arial"/>
              <a:buChar char="•"/>
            </a:pPr>
            <a:r>
              <a:rPr sz="900" u="sng">
                <a:solidFill>
                  <a:srgbClr val="1F6FD1"/>
                </a:solidFill>
                <a:latin typeface="Calibri"/>
                <a:hlinkClick r:id="rId12"/>
              </a:rPr>
              <a:t>Wang et al. (2024) — Multilingual E5 text embeddings, arXiv</a:t>
            </a:r>
          </a:p>
          <a:p>
            <a:pPr marL="155448" indent="-155448">
              <a:spcAft>
                <a:spcPts val="100"/>
              </a:spcAft>
              <a:buClr>
                <a:srgbClr val="1F6FD1"/>
              </a:buClr>
              <a:buFont typeface="Arial"/>
              <a:buChar char="•"/>
            </a:pPr>
            <a:r>
              <a:rPr sz="900" u="sng">
                <a:solidFill>
                  <a:srgbClr val="1F6FD1"/>
                </a:solidFill>
                <a:latin typeface="Calibri"/>
                <a:hlinkClick r:id="rId13"/>
              </a:rPr>
              <a:t>Cormack, Clarke &amp; Buettcher (2009) — Reciprocal Rank Fusion, SIGIR</a:t>
            </a:r>
          </a:p>
          <a:p>
            <a:pPr marL="155448" indent="-155448">
              <a:spcAft>
                <a:spcPts val="100"/>
              </a:spcAft>
              <a:buClr>
                <a:srgbClr val="1F6FD1"/>
              </a:buClr>
              <a:buFont typeface="Arial"/>
              <a:buChar char="•"/>
            </a:pPr>
            <a:r>
              <a:rPr sz="900" u="sng">
                <a:solidFill>
                  <a:srgbClr val="1F6FD1"/>
                </a:solidFill>
                <a:latin typeface="Calibri"/>
                <a:hlinkClick r:id="rId14"/>
              </a:rPr>
              <a:t>Lewis et al. (2020) — Retrieval-Augmented Generation, NeurIPS</a:t>
            </a:r>
          </a:p>
          <a:p>
            <a:pPr marL="155448" indent="-155448">
              <a:spcAft>
                <a:spcPts val="100"/>
              </a:spcAft>
              <a:buClr>
                <a:srgbClr val="1F6FD1"/>
              </a:buClr>
              <a:buFont typeface="Arial"/>
              <a:buChar char="•"/>
            </a:pPr>
            <a:r>
              <a:rPr sz="900" u="sng">
                <a:solidFill>
                  <a:srgbClr val="1F6FD1"/>
                </a:solidFill>
                <a:latin typeface="Calibri"/>
                <a:hlinkClick r:id="rId15"/>
              </a:rPr>
              <a:t>WCAG 2.1 — W3C accessibility guidelines (GIGW 3.0 basis)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20040" y="6053328"/>
            <a:ext cx="57607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 u="none">
                <a:solidFill>
                  <a:srgbClr val="1F2937"/>
                </a:solidFill>
                <a:latin typeface="Calibri"/>
              </a:rPr>
              <a:t>github repo link :</a:t>
            </a:r>
            <a:r>
              <a:rPr sz="850" b="0" i="0" u="none">
                <a:solidFill>
                  <a:srgbClr val="1F2937"/>
                </a:solidFill>
                <a:latin typeface="Calibri"/>
              </a:rPr>
              <a:t>   </a:t>
            </a:r>
            <a:r>
              <a:rPr sz="850" b="1" i="0" u="none">
                <a:solidFill>
                  <a:srgbClr val="1F2937"/>
                </a:solidFill>
                <a:latin typeface="Calibri"/>
              </a:rPr>
              <a:t>demo youtube video :</a:t>
            </a:r>
          </a:p>
        </p:txBody>
      </p:sp>
      <p:sp>
        <p:nvSpPr>
          <p:cNvPr id="17431" name="Oval 17430"/>
          <p:cNvSpPr/>
          <p:nvPr/>
        </p:nvSpPr>
        <p:spPr>
          <a:xfrm>
            <a:off x="6355080" y="117957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2" name="Picture 17431" descr="chartlin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5430" y="1239926"/>
            <a:ext cx="153619" cy="153619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6693408" y="1170432"/>
            <a:ext cx="514807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 u="none">
                <a:solidFill>
                  <a:srgbClr val="1E2761"/>
                </a:solidFill>
                <a:latin typeface="Calibri"/>
              </a:rPr>
              <a:t>Comparison with existing approaches</a:t>
            </a:r>
          </a:p>
        </p:txBody>
      </p:sp>
      <p:graphicFrame>
        <p:nvGraphicFramePr>
          <p:cNvPr id="17434" name="Table 17433"/>
          <p:cNvGraphicFramePr>
            <a:graphicFrameLocks noGrp="1"/>
          </p:cNvGraphicFramePr>
          <p:nvPr/>
        </p:nvGraphicFramePr>
        <p:xfrm>
          <a:off x="6355080" y="155448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68680"/>
                <a:gridCol w="1005840"/>
                <a:gridCol w="8686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FFFFFF"/>
                          </a:solidFill>
                          <a:latin typeface="Calibri"/>
                        </a:rPr>
                        <a:t>NCPOR
today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FFFFFF"/>
                          </a:solidFill>
                          <a:latin typeface="Calibri"/>
                        </a:rPr>
                        <a:t>Typical SIH
prototype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FFFFFF"/>
                          </a:solidFill>
                          <a:latin typeface="Calibri"/>
                        </a:rPr>
                        <a:t>Polar
Index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Uses NCPOR’s real archive, no re-entry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C0392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C0392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148A5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Links every item to its expedition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C0392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 u="none">
                          <a:solidFill>
                            <a:srgbClr val="1F2937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148A5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Page-level citation for AI text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C0392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 u="none">
                          <a:solidFill>
                            <a:srgbClr val="1F2937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148A5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Sentence-level fact-check blocks approval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C0392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C0392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148A5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Named reviewer + append-only audit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C0392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 u="none">
                          <a:solidFill>
                            <a:srgbClr val="1F2937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148A5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Measured accuracy on verified set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C0392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C0392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148A5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Coverage view of programme gaps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C0392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C0392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148A5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2937"/>
                          </a:solidFill>
                          <a:latin typeface="Calibri"/>
                        </a:rPr>
                        <a:t>Hindi output, reviewed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C0392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 u="none">
                          <a:solidFill>
                            <a:srgbClr val="1F2937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u="none">
                          <a:solidFill>
                            <a:srgbClr val="148A5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17435" name="TextBox 17434"/>
          <p:cNvSpPr txBox="1"/>
          <p:nvPr/>
        </p:nvSpPr>
        <p:spPr>
          <a:xfrm>
            <a:off x="6355080" y="4919472"/>
            <a:ext cx="548640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0" i="1" u="none">
                <a:solidFill>
                  <a:srgbClr val="5B6475"/>
                </a:solidFill>
                <a:latin typeface="Calibri"/>
              </a:rPr>
              <a:t>“Typical SIH prototype” = public repositories for PS SIH26063 reviewed before building (e.g. PolarCROSS, PRISM, POLARIS, DhruvGyani). NCPOR today = main site, DSpace, NPDC, MET-Data, library and social channels as separate systems.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355080" y="5532120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EAF2FC"/>
          </a:solidFill>
          <a:ln w="12700">
            <a:solidFill>
              <a:srgbClr val="9DB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6446520" y="5559552"/>
            <a:ext cx="5303520" cy="6766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 u="none">
                <a:solidFill>
                  <a:srgbClr val="1E2761"/>
                </a:solidFill>
                <a:latin typeface="Calibri"/>
              </a:rPr>
              <a:t>Coverage view finding:</a:t>
            </a:r>
            <a:r>
              <a:rPr sz="950" b="0" i="0" u="none">
                <a:solidFill>
                  <a:srgbClr val="1E2761"/>
                </a:solidFill>
                <a:latin typeface="Calibri"/>
              </a:rPr>
              <a:t> reports for the 7th and 8th expeditions are listed but unpublished; no DSpace report exists after the 30th — 12 later expeditions (33–37, 40–46) are known only from NCPOR news.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